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it as a proof of concept, not a product. Ten minutes: what is live, how it remembers, how it is governed, what we learned, and the framework question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remit is narrow on purpose. The value being tested is whether accumulated conversational memory is useful enough to justify a real system of record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published port, bound to the Tailscale interface. Hindsight and its database are internal only. The right column is the part worth remembering: settings live in git, secrets live in a per-agent env file, and only volume-resident profiles take config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containers and two model paths. The extraction model is the volume one and is deliberately a separate slot, so it can be a cheap model without touching the chat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Two model paths, one of them high volume. Retention is opinionated in the persona, not just in the provider. And the Postgres volume is the only thing in the stack that cannot be rebuilt from git and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 does real work here. With no system of record behind the agent, attribution is the only freshness signal available — so it is written into the identity file as a rule, not a suggestion.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is the design: identity and configuration are code; everything the agent accumulates stays in the volume. The repo never receives a write from the container, and the container never loses state on a git pull.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each doing something the others cannot. Tool exposure is per surface, so the dashboard keeps its full kit while the shared channel does not. Read-only identity is the injection control: there is nowhere for update your soul to always to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PoC's real output. The pattern across all five: the failure starts correctly. Nothing errors, the container comes up, the agent answers — and the thing you configured is not the thing that is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two decisions: an owner for the backup and review work, and agreement on the framework assessment before we build phase two on this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C2641">
                  <a:alpha val="78000"/>
                </a:srgbClr>
              </a:gs>
              <a:gs pos="58000">
                <a:srgbClr val="2C2641">
                  <a:alpha val="0"/>
                </a:srgbClr>
              </a:gs>
            </a:gsLst>
            <a:path path="circle">
              <a:fillToRect l="80000" t="0" r="20000" b="100000"/>
            </a:path>
          </a:gradFill>
          <a:ln/>
        </p:spPr>
      </p:sp>
      <p:sp>
        <p:nvSpPr>
          <p:cNvPr id="3" name="Shape 1"/>
          <p:cNvSpPr/>
          <p:nvPr/>
        </p:nvSpPr>
        <p:spPr>
          <a:xfrm>
            <a:off x="1143000" y="2930426"/>
            <a:ext cx="419100" cy="9525"/>
          </a:xfrm>
          <a:prstGeom prst="rect">
            <a:avLst/>
          </a:prstGeom>
          <a:solidFill>
            <a:srgbClr val="9184D9"/>
          </a:solidFill>
          <a:ln/>
        </p:spPr>
      </p:sp>
      <p:sp>
        <p:nvSpPr>
          <p:cNvPr id="4" name="Text 2"/>
          <p:cNvSpPr/>
          <p:nvPr/>
        </p:nvSpPr>
        <p:spPr>
          <a:xfrm>
            <a:off x="1752600" y="2758083"/>
            <a:ext cx="4972229"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PROOF OF CONCEPT · AUGUST 2026</a:t>
            </a:r>
            <a:endParaRPr lang="en-US" sz="1800" dirty="0"/>
          </a:p>
        </p:txBody>
      </p:sp>
      <p:sp>
        <p:nvSpPr>
          <p:cNvPr id="5" name="Text 3"/>
          <p:cNvSpPr/>
          <p:nvPr/>
        </p:nvSpPr>
        <p:spPr>
          <a:xfrm>
            <a:off x="1079004" y="3531493"/>
            <a:ext cx="17672596" cy="1147564"/>
          </a:xfrm>
          <a:prstGeom prst="rect">
            <a:avLst/>
          </a:prstGeom>
          <a:noFill/>
          <a:ln/>
        </p:spPr>
        <p:txBody>
          <a:bodyPr wrap="square" lIns="25400" tIns="25400" rIns="25400" bIns="25400" rtlCol="0" anchor="t">
            <a:normAutofit/>
          </a:bodyPr>
          <a:lstStyle/>
          <a:p>
            <a:pPr algn="l" indent="0" marL="0">
              <a:lnSpc>
                <a:spcPct val="90528"/>
              </a:lnSpc>
              <a:buNone/>
            </a:pPr>
            <a:r>
              <a:rPr lang="en-US" sz="8400" spc="-168" kern="0" dirty="0">
                <a:solidFill>
                  <a:srgbClr val="E9E9ED"/>
                </a:solidFill>
                <a:latin typeface="Arial" pitchFamily="34" charset="0"/>
                <a:ea typeface="Arial" pitchFamily="34" charset="-122"/>
                <a:cs typeface="Arial" pitchFamily="34" charset="-120"/>
              </a:rPr>
              <a:t>Self-Improving Backoffice Agent</a:t>
            </a:r>
            <a:endParaRPr lang="en-US" sz="8400" dirty="0"/>
          </a:p>
        </p:txBody>
      </p:sp>
      <p:sp>
        <p:nvSpPr>
          <p:cNvPr id="6" name="Text 4"/>
          <p:cNvSpPr/>
          <p:nvPr/>
        </p:nvSpPr>
        <p:spPr>
          <a:xfrm>
            <a:off x="1143000" y="5060057"/>
            <a:ext cx="9902726" cy="1581150"/>
          </a:xfrm>
          <a:prstGeom prst="rect">
            <a:avLst/>
          </a:prstGeom>
          <a:noFill/>
          <a:ln/>
        </p:spPr>
        <p:txBody>
          <a:bodyPr wrap="square" lIns="25400" tIns="25400" rIns="25400" bIns="25400" rtlCol="0" anchor="t">
            <a:normAutofit/>
          </a:bodyPr>
          <a:lstStyle/>
          <a:p>
            <a:pPr algn="l" indent="0" marL="0">
              <a:lnSpc>
                <a:spcPct val="117391"/>
              </a:lnSpc>
              <a:buNone/>
            </a:pPr>
            <a:r>
              <a:rPr lang="en-US" sz="3000" dirty="0">
                <a:solidFill>
                  <a:srgbClr val="E9E9ED">
                    <a:alpha val="82000"/>
                  </a:srgbClr>
                </a:solidFill>
                <a:latin typeface="Arial" pitchFamily="34" charset="0"/>
                <a:ea typeface="Arial" pitchFamily="34" charset="-122"/>
                <a:cs typeface="Arial" pitchFamily="34" charset="-120"/>
              </a:rPr>
              <a:t>Hermes Agent with Hindsight memory, on a private VPS — it accumulates what the team teaches it, and reads the CRM to answer from record.</a:t>
            </a:r>
            <a:endParaRPr lang="en-US" sz="3000" dirty="0"/>
          </a:p>
        </p:txBody>
      </p:sp>
      <p:sp>
        <p:nvSpPr>
          <p:cNvPr id="7" name="Text 5"/>
          <p:cNvSpPr/>
          <p:nvPr/>
        </p:nvSpPr>
        <p:spPr>
          <a:xfrm>
            <a:off x="1143000" y="7250807"/>
            <a:ext cx="291078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9E9ED">
                    <a:alpha val="55000"/>
                  </a:srgbClr>
                </a:solidFill>
                <a:latin typeface="Arial" pitchFamily="34" charset="0"/>
                <a:ea typeface="Arial" pitchFamily="34" charset="-122"/>
                <a:cs typeface="Arial" pitchFamily="34" charset="-120"/>
              </a:rPr>
              <a:t>Status: live on the tailnet</a:t>
            </a:r>
            <a:endParaRPr lang="en-US" sz="1800" dirty="0"/>
          </a:p>
        </p:txBody>
      </p:sp>
      <p:sp>
        <p:nvSpPr>
          <p:cNvPr id="8" name="Text 6"/>
          <p:cNvSpPr/>
          <p:nvPr/>
        </p:nvSpPr>
        <p:spPr>
          <a:xfrm>
            <a:off x="4322564" y="7250807"/>
            <a:ext cx="4953129"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9E9ED">
                    <a:alpha val="55000"/>
                  </a:srgbClr>
                </a:solidFill>
                <a:latin typeface="Arial" pitchFamily="34" charset="0"/>
                <a:ea typeface="Arial" pitchFamily="34" charset="-122"/>
                <a:cs typeface="Arial" pitchFamily="34" charset="-120"/>
              </a:rPr>
              <a:t>Surfaces: dashboard + one Slack channel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91668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SCOPE</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Scope of the Proof of Concept</a:t>
            </a:r>
            <a:endParaRPr lang="en-US" sz="4800" dirty="0"/>
          </a:p>
        </p:txBody>
      </p:sp>
      <p:sp>
        <p:nvSpPr>
          <p:cNvPr id="6" name="Shape 4"/>
          <p:cNvSpPr/>
          <p:nvPr/>
        </p:nvSpPr>
        <p:spPr>
          <a:xfrm>
            <a:off x="1143000" y="3524945"/>
            <a:ext cx="4927600" cy="9525"/>
          </a:xfrm>
          <a:prstGeom prst="rect">
            <a:avLst/>
          </a:prstGeom>
          <a:solidFill>
            <a:srgbClr val="E6E6EC">
              <a:alpha val="16000"/>
            </a:srgbClr>
          </a:solidFill>
          <a:ln/>
        </p:spPr>
      </p:sp>
      <p:sp>
        <p:nvSpPr>
          <p:cNvPr id="7" name="Text 5"/>
          <p:cNvSpPr/>
          <p:nvPr/>
        </p:nvSpPr>
        <p:spPr>
          <a:xfrm>
            <a:off x="1143000" y="2980134"/>
            <a:ext cx="507542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LIVE TODAY</a:t>
            </a:r>
            <a:endParaRPr lang="en-US" sz="1800" dirty="0"/>
          </a:p>
        </p:txBody>
      </p:sp>
      <p:sp>
        <p:nvSpPr>
          <p:cNvPr id="8" name="Text 6"/>
          <p:cNvSpPr/>
          <p:nvPr/>
        </p:nvSpPr>
        <p:spPr>
          <a:xfrm>
            <a:off x="1143000" y="3759895"/>
            <a:ext cx="5075428"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Answering questions about how the company runs, from what the team has taught it.</a:t>
            </a:r>
            <a:endParaRPr lang="en-US" sz="1950" dirty="0"/>
          </a:p>
        </p:txBody>
      </p:sp>
      <p:sp>
        <p:nvSpPr>
          <p:cNvPr id="9" name="Text 7"/>
          <p:cNvSpPr/>
          <p:nvPr/>
        </p:nvSpPr>
        <p:spPr>
          <a:xfrm>
            <a:off x="1143000" y="5065713"/>
            <a:ext cx="5075428" cy="1474391"/>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Read-only lookups against the company CRM — and memory of where records live, so the second question is faster than the first.</a:t>
            </a:r>
            <a:endParaRPr lang="en-US" sz="1950" dirty="0"/>
          </a:p>
        </p:txBody>
      </p:sp>
      <p:sp>
        <p:nvSpPr>
          <p:cNvPr id="10" name="Text 8"/>
          <p:cNvSpPr/>
          <p:nvPr/>
        </p:nvSpPr>
        <p:spPr>
          <a:xfrm>
            <a:off x="1143000" y="6730603"/>
            <a:ext cx="5075428"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Two private surfaces: the Hermes dashboard, and one invited Slack channel.</a:t>
            </a:r>
            <a:endParaRPr lang="en-US" sz="1950" dirty="0"/>
          </a:p>
        </p:txBody>
      </p:sp>
      <p:sp>
        <p:nvSpPr>
          <p:cNvPr id="11" name="Shape 9"/>
          <p:cNvSpPr/>
          <p:nvPr/>
        </p:nvSpPr>
        <p:spPr>
          <a:xfrm>
            <a:off x="6680200" y="3524945"/>
            <a:ext cx="4927600" cy="9525"/>
          </a:xfrm>
          <a:prstGeom prst="rect">
            <a:avLst/>
          </a:prstGeom>
          <a:solidFill>
            <a:srgbClr val="E6E6EC">
              <a:alpha val="16000"/>
            </a:srgbClr>
          </a:solidFill>
          <a:ln/>
        </p:spPr>
      </p:sp>
      <p:sp>
        <p:nvSpPr>
          <p:cNvPr id="12" name="Text 10"/>
          <p:cNvSpPr/>
          <p:nvPr/>
        </p:nvSpPr>
        <p:spPr>
          <a:xfrm>
            <a:off x="6680200" y="2980134"/>
            <a:ext cx="507542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PLANNED</a:t>
            </a:r>
            <a:endParaRPr lang="en-US" sz="1800" dirty="0"/>
          </a:p>
        </p:txBody>
      </p:sp>
      <p:sp>
        <p:nvSpPr>
          <p:cNvPr id="13" name="Text 11"/>
          <p:cNvSpPr/>
          <p:nvPr/>
        </p:nvSpPr>
        <p:spPr>
          <a:xfrm>
            <a:off x="6680200" y="3759895"/>
            <a:ext cx="5075428"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Email, on the same read-only footing as the CRM.</a:t>
            </a:r>
            <a:endParaRPr lang="en-US" sz="1950" dirty="0"/>
          </a:p>
        </p:txBody>
      </p:sp>
      <p:sp>
        <p:nvSpPr>
          <p:cNvPr id="14" name="Text 12"/>
          <p:cNvSpPr/>
          <p:nvPr/>
        </p:nvSpPr>
        <p:spPr>
          <a:xfrm>
            <a:off x="6680200" y="4706640"/>
            <a:ext cx="5075428"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OneDrive, so document location becomes something the agent can recall rather than something people re-ask.</a:t>
            </a:r>
            <a:endParaRPr lang="en-US" sz="1950" dirty="0"/>
          </a:p>
        </p:txBody>
      </p:sp>
      <p:sp>
        <p:nvSpPr>
          <p:cNvPr id="15" name="Text 13"/>
          <p:cNvSpPr/>
          <p:nvPr/>
        </p:nvSpPr>
        <p:spPr>
          <a:xfrm>
            <a:off x="6680200" y="6012458"/>
            <a:ext cx="5420360" cy="397173"/>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A reader/writer split, before either lands.</a:t>
            </a:r>
            <a:endParaRPr lang="en-US" sz="1950" dirty="0"/>
          </a:p>
        </p:txBody>
      </p:sp>
      <p:sp>
        <p:nvSpPr>
          <p:cNvPr id="16" name="Shape 14"/>
          <p:cNvSpPr/>
          <p:nvPr/>
        </p:nvSpPr>
        <p:spPr>
          <a:xfrm>
            <a:off x="12217401" y="3524945"/>
            <a:ext cx="4927600" cy="9525"/>
          </a:xfrm>
          <a:prstGeom prst="rect">
            <a:avLst/>
          </a:prstGeom>
          <a:solidFill>
            <a:srgbClr val="E6E6EC">
              <a:alpha val="16000"/>
            </a:srgbClr>
          </a:solidFill>
          <a:ln/>
        </p:spPr>
      </p:sp>
      <p:sp>
        <p:nvSpPr>
          <p:cNvPr id="17" name="Text 15"/>
          <p:cNvSpPr/>
          <p:nvPr/>
        </p:nvSpPr>
        <p:spPr>
          <a:xfrm>
            <a:off x="12217401" y="2980134"/>
            <a:ext cx="507542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DELIBERATELY OUT OF SCOPE</a:t>
            </a:r>
            <a:endParaRPr lang="en-US" sz="1800" dirty="0"/>
          </a:p>
        </p:txBody>
      </p:sp>
      <p:sp>
        <p:nvSpPr>
          <p:cNvPr id="18" name="Text 16"/>
          <p:cNvSpPr/>
          <p:nvPr/>
        </p:nvSpPr>
        <p:spPr>
          <a:xfrm>
            <a:off x="12217401" y="3759895"/>
            <a:ext cx="5075428"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Any write path into a system of record. Lookups only, everywhere.</a:t>
            </a:r>
            <a:endParaRPr lang="en-US" sz="1950" dirty="0"/>
          </a:p>
        </p:txBody>
      </p:sp>
      <p:sp>
        <p:nvSpPr>
          <p:cNvPr id="19" name="Text 17"/>
          <p:cNvSpPr/>
          <p:nvPr/>
        </p:nvSpPr>
        <p:spPr>
          <a:xfrm>
            <a:off x="12217401" y="4706640"/>
            <a:ext cx="5075428"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Acting on anyone's behalf — no task management, no chasing, no decisions.</a:t>
            </a:r>
            <a:endParaRPr lang="en-US" sz="1950" dirty="0"/>
          </a:p>
        </p:txBody>
      </p:sp>
      <p:sp>
        <p:nvSpPr>
          <p:cNvPr id="20" name="Text 18"/>
          <p:cNvSpPr/>
          <p:nvPr/>
        </p:nvSpPr>
        <p:spPr>
          <a:xfrm>
            <a:off x="12217401" y="5653385"/>
            <a:ext cx="5075428"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Any public surface. Nothing is reachable outside the tailnet.</a:t>
            </a:r>
            <a:endParaRPr lang="en-US" sz="1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211405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ARCHITECTURE</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Deployment Architecture</a:t>
            </a:r>
            <a:endParaRPr lang="en-US" sz="4800" dirty="0"/>
          </a:p>
        </p:txBody>
      </p:sp>
      <p:sp>
        <p:nvSpPr>
          <p:cNvPr id="6" name="Shape 4"/>
          <p:cNvSpPr/>
          <p:nvPr/>
        </p:nvSpPr>
        <p:spPr>
          <a:xfrm>
            <a:off x="1143000" y="2599134"/>
            <a:ext cx="8711109" cy="1143198"/>
          </a:xfrm>
          <a:prstGeom prst="roundRect">
            <a:avLst>
              <a:gd name="adj" fmla="val 6666"/>
            </a:avLst>
          </a:prstGeom>
          <a:solidFill>
            <a:srgbClr val="242532">
              <a:alpha val="70000"/>
            </a:srgbClr>
          </a:solidFill>
          <a:ln w="6350">
            <a:solidFill>
              <a:srgbClr val="E6E6EC">
                <a:alpha val="16000"/>
              </a:srgbClr>
            </a:solidFill>
            <a:prstDash val="solid"/>
          </a:ln>
        </p:spPr>
      </p:sp>
      <p:sp>
        <p:nvSpPr>
          <p:cNvPr id="7" name="Text 5"/>
          <p:cNvSpPr/>
          <p:nvPr/>
        </p:nvSpPr>
        <p:spPr>
          <a:xfrm>
            <a:off x="1416050" y="2757885"/>
            <a:ext cx="8981509" cy="403820"/>
          </a:xfrm>
          <a:prstGeom prst="rect">
            <a:avLst/>
          </a:prstGeom>
          <a:noFill/>
          <a:ln/>
        </p:spPr>
        <p:txBody>
          <a:bodyPr wrap="square" lIns="25400" tIns="25400" rIns="25400" bIns="25400" rtlCol="0" anchor="t">
            <a:normAutofit/>
          </a:bodyPr>
          <a:lstStyle/>
          <a:p>
            <a:pPr algn="l" indent="0" marL="0">
              <a:lnSpc>
                <a:spcPct val="104727"/>
              </a:lnSpc>
              <a:buNone/>
            </a:pPr>
            <a:r>
              <a:rPr lang="en-US" sz="2400" dirty="0">
                <a:solidFill>
                  <a:srgbClr val="E9E9ED"/>
                </a:solidFill>
                <a:latin typeface="Arial" pitchFamily="34" charset="0"/>
                <a:ea typeface="Arial" pitchFamily="34" charset="-122"/>
                <a:cs typeface="Arial" pitchFamily="34" charset="-120"/>
              </a:rPr>
              <a:t>Hermes Desktop</a:t>
            </a:r>
            <a:endParaRPr lang="en-US" sz="2400" dirty="0"/>
          </a:p>
        </p:txBody>
      </p:sp>
      <p:sp>
        <p:nvSpPr>
          <p:cNvPr id="8" name="Text 6"/>
          <p:cNvSpPr/>
          <p:nvPr/>
        </p:nvSpPr>
        <p:spPr>
          <a:xfrm>
            <a:off x="1416050" y="3199805"/>
            <a:ext cx="8981509"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9E9EE">
                    <a:alpha val="58000"/>
                  </a:srgbClr>
                </a:solidFill>
                <a:latin typeface="Arial" pitchFamily="34" charset="0"/>
                <a:ea typeface="Arial" pitchFamily="34" charset="-122"/>
                <a:cs typeface="Arial" pitchFamily="34" charset="-120"/>
              </a:rPr>
              <a:t>Remote Gateway, on a laptop</a:t>
            </a:r>
            <a:endParaRPr lang="en-US" sz="1950" dirty="0"/>
          </a:p>
        </p:txBody>
      </p:sp>
      <p:sp>
        <p:nvSpPr>
          <p:cNvPr id="9" name="Shape 7"/>
          <p:cNvSpPr/>
          <p:nvPr/>
        </p:nvSpPr>
        <p:spPr>
          <a:xfrm>
            <a:off x="1409700" y="3943747"/>
            <a:ext cx="9525" cy="247650"/>
          </a:xfrm>
          <a:prstGeom prst="rect">
            <a:avLst/>
          </a:prstGeom>
          <a:solidFill>
            <a:srgbClr val="796CBF"/>
          </a:solidFill>
          <a:ln/>
        </p:spPr>
      </p:sp>
      <p:sp>
        <p:nvSpPr>
          <p:cNvPr id="10" name="Text 8"/>
          <p:cNvSpPr/>
          <p:nvPr/>
        </p:nvSpPr>
        <p:spPr>
          <a:xfrm>
            <a:off x="1590675" y="3875683"/>
            <a:ext cx="1094978"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Tailscale</a:t>
            </a:r>
            <a:endParaRPr lang="en-US" sz="1950" dirty="0"/>
          </a:p>
        </p:txBody>
      </p:sp>
      <p:sp>
        <p:nvSpPr>
          <p:cNvPr id="11" name="Shape 9"/>
          <p:cNvSpPr/>
          <p:nvPr/>
        </p:nvSpPr>
        <p:spPr>
          <a:xfrm>
            <a:off x="1143000" y="4392811"/>
            <a:ext cx="8711109" cy="1526977"/>
          </a:xfrm>
          <a:prstGeom prst="roundRect">
            <a:avLst>
              <a:gd name="adj" fmla="val 4990"/>
            </a:avLst>
          </a:prstGeom>
          <a:solidFill>
            <a:srgbClr val="2C2642">
              <a:alpha val="55000"/>
            </a:srgbClr>
          </a:solidFill>
          <a:ln w="6350">
            <a:solidFill>
              <a:srgbClr val="5D5294"/>
            </a:solidFill>
            <a:prstDash val="solid"/>
          </a:ln>
        </p:spPr>
      </p:sp>
      <p:sp>
        <p:nvSpPr>
          <p:cNvPr id="12" name="Text 10"/>
          <p:cNvSpPr/>
          <p:nvPr/>
        </p:nvSpPr>
        <p:spPr>
          <a:xfrm>
            <a:off x="1416050" y="4551561"/>
            <a:ext cx="8981509" cy="403820"/>
          </a:xfrm>
          <a:prstGeom prst="rect">
            <a:avLst/>
          </a:prstGeom>
          <a:noFill/>
          <a:ln/>
        </p:spPr>
        <p:txBody>
          <a:bodyPr wrap="square" lIns="25400" tIns="25400" rIns="25400" bIns="25400" rtlCol="0" anchor="t">
            <a:normAutofit/>
          </a:bodyPr>
          <a:lstStyle/>
          <a:p>
            <a:pPr algn="l" indent="0" marL="0">
              <a:lnSpc>
                <a:spcPct val="104727"/>
              </a:lnSpc>
              <a:buNone/>
            </a:pPr>
            <a:r>
              <a:rPr lang="en-US" sz="2400" dirty="0">
                <a:solidFill>
                  <a:srgbClr val="E9E9ED"/>
                </a:solidFill>
                <a:latin typeface="Arial" pitchFamily="34" charset="0"/>
                <a:ea typeface="Arial" pitchFamily="34" charset="-122"/>
                <a:cs typeface="Arial" pitchFamily="34" charset="-120"/>
              </a:rPr>
              <a:t>hermes · :9119</a:t>
            </a:r>
            <a:endParaRPr lang="en-US" sz="2400" dirty="0"/>
          </a:p>
        </p:txBody>
      </p:sp>
      <p:sp>
        <p:nvSpPr>
          <p:cNvPr id="13" name="Text 11"/>
          <p:cNvSpPr/>
          <p:nvPr/>
        </p:nvSpPr>
        <p:spPr>
          <a:xfrm>
            <a:off x="1416050" y="4993481"/>
            <a:ext cx="8409959" cy="805656"/>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AEAEC">
                    <a:alpha val="70000"/>
                  </a:srgbClr>
                </a:solidFill>
                <a:latin typeface="Arial" pitchFamily="34" charset="0"/>
                <a:ea typeface="Arial" pitchFamily="34" charset="-122"/>
                <a:cs typeface="Arial" pitchFamily="34" charset="-120"/>
              </a:rPr>
              <a:t>Gateway and dashboard backend, running the backoffice profile. Published on the Tailscale IP only, behind Basic Auth.</a:t>
            </a:r>
            <a:endParaRPr lang="en-US" sz="1950" dirty="0"/>
          </a:p>
        </p:txBody>
      </p:sp>
      <p:sp>
        <p:nvSpPr>
          <p:cNvPr id="14" name="Shape 12"/>
          <p:cNvSpPr/>
          <p:nvPr/>
        </p:nvSpPr>
        <p:spPr>
          <a:xfrm>
            <a:off x="1409700" y="6121202"/>
            <a:ext cx="9525" cy="247650"/>
          </a:xfrm>
          <a:prstGeom prst="rect">
            <a:avLst/>
          </a:prstGeom>
          <a:solidFill>
            <a:srgbClr val="796CBF"/>
          </a:solidFill>
          <a:ln/>
        </p:spPr>
      </p:sp>
      <p:sp>
        <p:nvSpPr>
          <p:cNvPr id="15" name="Text 13"/>
          <p:cNvSpPr/>
          <p:nvPr/>
        </p:nvSpPr>
        <p:spPr>
          <a:xfrm>
            <a:off x="1590675" y="6053138"/>
            <a:ext cx="3090208"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Internal Docker network</a:t>
            </a:r>
            <a:endParaRPr lang="en-US" sz="1950" dirty="0"/>
          </a:p>
        </p:txBody>
      </p:sp>
      <p:sp>
        <p:nvSpPr>
          <p:cNvPr id="16" name="Shape 14"/>
          <p:cNvSpPr/>
          <p:nvPr/>
        </p:nvSpPr>
        <p:spPr>
          <a:xfrm>
            <a:off x="1143000" y="6570266"/>
            <a:ext cx="8711109" cy="1143198"/>
          </a:xfrm>
          <a:prstGeom prst="roundRect">
            <a:avLst>
              <a:gd name="adj" fmla="val 6666"/>
            </a:avLst>
          </a:prstGeom>
          <a:solidFill>
            <a:srgbClr val="242532">
              <a:alpha val="70000"/>
            </a:srgbClr>
          </a:solidFill>
          <a:ln w="6350">
            <a:solidFill>
              <a:srgbClr val="E6E6EC">
                <a:alpha val="16000"/>
              </a:srgbClr>
            </a:solidFill>
            <a:prstDash val="solid"/>
          </a:ln>
        </p:spPr>
      </p:sp>
      <p:sp>
        <p:nvSpPr>
          <p:cNvPr id="17" name="Text 15"/>
          <p:cNvSpPr/>
          <p:nvPr/>
        </p:nvSpPr>
        <p:spPr>
          <a:xfrm>
            <a:off x="1416050" y="6729016"/>
            <a:ext cx="8981509" cy="403820"/>
          </a:xfrm>
          <a:prstGeom prst="rect">
            <a:avLst/>
          </a:prstGeom>
          <a:noFill/>
          <a:ln/>
        </p:spPr>
        <p:txBody>
          <a:bodyPr wrap="square" lIns="25400" tIns="25400" rIns="25400" bIns="25400" rtlCol="0" anchor="t">
            <a:normAutofit/>
          </a:bodyPr>
          <a:lstStyle/>
          <a:p>
            <a:pPr algn="l" indent="0" marL="0">
              <a:lnSpc>
                <a:spcPct val="104727"/>
              </a:lnSpc>
              <a:buNone/>
            </a:pPr>
            <a:r>
              <a:rPr lang="en-US" sz="2400" dirty="0">
                <a:solidFill>
                  <a:srgbClr val="E9E9ED"/>
                </a:solidFill>
                <a:latin typeface="Arial" pitchFamily="34" charset="0"/>
                <a:ea typeface="Arial" pitchFamily="34" charset="-122"/>
                <a:cs typeface="Arial" pitchFamily="34" charset="-120"/>
              </a:rPr>
              <a:t>hindsight · :8888</a:t>
            </a:r>
            <a:endParaRPr lang="en-US" sz="2400" dirty="0"/>
          </a:p>
        </p:txBody>
      </p:sp>
      <p:sp>
        <p:nvSpPr>
          <p:cNvPr id="18" name="Text 16"/>
          <p:cNvSpPr/>
          <p:nvPr/>
        </p:nvSpPr>
        <p:spPr>
          <a:xfrm>
            <a:off x="1416050" y="7170936"/>
            <a:ext cx="8981509"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9E9EE">
                    <a:alpha val="58000"/>
                  </a:srgbClr>
                </a:solidFill>
                <a:latin typeface="Arial" pitchFamily="34" charset="0"/>
                <a:ea typeface="Arial" pitchFamily="34" charset="-122"/>
                <a:cs typeface="Arial" pitchFamily="34" charset="-120"/>
              </a:rPr>
              <a:t>Memory server. Not published.</a:t>
            </a:r>
            <a:endParaRPr lang="en-US" sz="1950" dirty="0"/>
          </a:p>
        </p:txBody>
      </p:sp>
      <p:sp>
        <p:nvSpPr>
          <p:cNvPr id="19" name="Shape 17"/>
          <p:cNvSpPr/>
          <p:nvPr/>
        </p:nvSpPr>
        <p:spPr>
          <a:xfrm>
            <a:off x="1409700" y="7846814"/>
            <a:ext cx="9525" cy="247650"/>
          </a:xfrm>
          <a:prstGeom prst="rect">
            <a:avLst/>
          </a:prstGeom>
          <a:solidFill>
            <a:srgbClr val="796CBF"/>
          </a:solidFill>
          <a:ln/>
        </p:spPr>
      </p:sp>
      <p:sp>
        <p:nvSpPr>
          <p:cNvPr id="20" name="Shape 18"/>
          <p:cNvSpPr/>
          <p:nvPr/>
        </p:nvSpPr>
        <p:spPr>
          <a:xfrm>
            <a:off x="1143000" y="8227814"/>
            <a:ext cx="8711109" cy="1143198"/>
          </a:xfrm>
          <a:prstGeom prst="roundRect">
            <a:avLst>
              <a:gd name="adj" fmla="val 6666"/>
            </a:avLst>
          </a:prstGeom>
          <a:solidFill>
            <a:srgbClr val="242532">
              <a:alpha val="70000"/>
            </a:srgbClr>
          </a:solidFill>
          <a:ln w="6350">
            <a:solidFill>
              <a:srgbClr val="E6E6EC">
                <a:alpha val="16000"/>
              </a:srgbClr>
            </a:solidFill>
            <a:prstDash val="solid"/>
          </a:ln>
        </p:spPr>
      </p:sp>
      <p:sp>
        <p:nvSpPr>
          <p:cNvPr id="21" name="Text 19"/>
          <p:cNvSpPr/>
          <p:nvPr/>
        </p:nvSpPr>
        <p:spPr>
          <a:xfrm>
            <a:off x="1416050" y="8386564"/>
            <a:ext cx="8981509" cy="403820"/>
          </a:xfrm>
          <a:prstGeom prst="rect">
            <a:avLst/>
          </a:prstGeom>
          <a:noFill/>
          <a:ln/>
        </p:spPr>
        <p:txBody>
          <a:bodyPr wrap="square" lIns="25400" tIns="25400" rIns="25400" bIns="25400" rtlCol="0" anchor="t">
            <a:normAutofit/>
          </a:bodyPr>
          <a:lstStyle/>
          <a:p>
            <a:pPr algn="l" indent="0" marL="0">
              <a:lnSpc>
                <a:spcPct val="104727"/>
              </a:lnSpc>
              <a:buNone/>
            </a:pPr>
            <a:r>
              <a:rPr lang="en-US" sz="2400" dirty="0">
                <a:solidFill>
                  <a:srgbClr val="E9E9ED"/>
                </a:solidFill>
                <a:latin typeface="Arial" pitchFamily="34" charset="0"/>
                <a:ea typeface="Arial" pitchFamily="34" charset="-122"/>
                <a:cs typeface="Arial" pitchFamily="34" charset="-120"/>
              </a:rPr>
              <a:t>hindsight-db</a:t>
            </a:r>
            <a:endParaRPr lang="en-US" sz="2400" dirty="0"/>
          </a:p>
        </p:txBody>
      </p:sp>
      <p:sp>
        <p:nvSpPr>
          <p:cNvPr id="22" name="Text 20"/>
          <p:cNvSpPr/>
          <p:nvPr/>
        </p:nvSpPr>
        <p:spPr>
          <a:xfrm>
            <a:off x="1416050" y="8828484"/>
            <a:ext cx="8981509"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9E9EE">
                    <a:alpha val="58000"/>
                  </a:srgbClr>
                </a:solidFill>
                <a:latin typeface="Arial" pitchFamily="34" charset="0"/>
                <a:ea typeface="Arial" pitchFamily="34" charset="-122"/>
                <a:cs typeface="Arial" pitchFamily="34" charset="-120"/>
              </a:rPr>
              <a:t>PostgreSQL + pgvector. Internal only.</a:t>
            </a:r>
            <a:endParaRPr lang="en-US" sz="1950" dirty="0"/>
          </a:p>
        </p:txBody>
      </p:sp>
      <p:sp>
        <p:nvSpPr>
          <p:cNvPr id="23" name="Shape 21"/>
          <p:cNvSpPr/>
          <p:nvPr/>
        </p:nvSpPr>
        <p:spPr>
          <a:xfrm>
            <a:off x="10692309" y="3143945"/>
            <a:ext cx="6452692" cy="9525"/>
          </a:xfrm>
          <a:prstGeom prst="rect">
            <a:avLst/>
          </a:prstGeom>
          <a:solidFill>
            <a:srgbClr val="E6E6EC">
              <a:alpha val="16000"/>
            </a:srgbClr>
          </a:solidFill>
          <a:ln/>
        </p:spPr>
      </p:sp>
      <p:sp>
        <p:nvSpPr>
          <p:cNvPr id="24" name="Text 22"/>
          <p:cNvSpPr/>
          <p:nvPr/>
        </p:nvSpPr>
        <p:spPr>
          <a:xfrm>
            <a:off x="10692309" y="2599134"/>
            <a:ext cx="664627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E9E9ED">
                    <a:alpha val="55000"/>
                  </a:srgbClr>
                </a:solidFill>
                <a:latin typeface="Arial" pitchFamily="34" charset="0"/>
                <a:ea typeface="Arial" pitchFamily="34" charset="-122"/>
                <a:cs typeface="Arial" pitchFamily="34" charset="-120"/>
              </a:rPr>
              <a:t>CONFIGURATION SURFACES</a:t>
            </a:r>
            <a:endParaRPr lang="en-US" sz="1800" dirty="0"/>
          </a:p>
        </p:txBody>
      </p:sp>
      <p:sp>
        <p:nvSpPr>
          <p:cNvPr id="25" name="Text 23"/>
          <p:cNvSpPr/>
          <p:nvPr/>
        </p:nvSpPr>
        <p:spPr>
          <a:xfrm>
            <a:off x="10692309" y="3397945"/>
            <a:ext cx="7097961"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SOUL.md</a:t>
            </a:r>
            <a:endParaRPr lang="en-US" sz="1950" dirty="0"/>
          </a:p>
        </p:txBody>
      </p:sp>
      <p:sp>
        <p:nvSpPr>
          <p:cNvPr id="26" name="Text 24"/>
          <p:cNvSpPr/>
          <p:nvPr/>
        </p:nvSpPr>
        <p:spPr>
          <a:xfrm>
            <a:off x="10692309" y="3838873"/>
            <a:ext cx="7097961" cy="384770"/>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solidFill>
                <a:latin typeface="Arial" pitchFamily="34" charset="0"/>
                <a:ea typeface="Arial" pitchFamily="34" charset="-122"/>
                <a:cs typeface="Arial" pitchFamily="34" charset="-120"/>
              </a:rPr>
              <a:t>Identity. Mounted read-only from git.</a:t>
            </a:r>
            <a:endParaRPr lang="en-US" sz="1950" dirty="0"/>
          </a:p>
        </p:txBody>
      </p:sp>
      <p:sp>
        <p:nvSpPr>
          <p:cNvPr id="27" name="Text 25"/>
          <p:cNvSpPr/>
          <p:nvPr/>
        </p:nvSpPr>
        <p:spPr>
          <a:xfrm>
            <a:off x="10692309" y="4433193"/>
            <a:ext cx="7097961"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config.yaml</a:t>
            </a:r>
            <a:endParaRPr lang="en-US" sz="1950" dirty="0"/>
          </a:p>
        </p:txBody>
      </p:sp>
      <p:sp>
        <p:nvSpPr>
          <p:cNvPr id="28" name="Text 26"/>
          <p:cNvSpPr/>
          <p:nvPr/>
        </p:nvSpPr>
        <p:spPr>
          <a:xfrm>
            <a:off x="10692309" y="4874121"/>
            <a:ext cx="6646272"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solidFill>
                <a:latin typeface="Arial" pitchFamily="34" charset="0"/>
                <a:ea typeface="Arial" pitchFamily="34" charset="-122"/>
                <a:cs typeface="Arial" pitchFamily="34" charset="-120"/>
              </a:rPr>
              <a:t>Model, memory provider, Slack gates, tool exposure. Read-only from git.</a:t>
            </a:r>
            <a:endParaRPr lang="en-US" sz="1950" dirty="0"/>
          </a:p>
        </p:txBody>
      </p:sp>
      <p:sp>
        <p:nvSpPr>
          <p:cNvPr id="29" name="Text 27"/>
          <p:cNvSpPr/>
          <p:nvPr/>
        </p:nvSpPr>
        <p:spPr>
          <a:xfrm>
            <a:off x="10692309" y="5815112"/>
            <a:ext cx="7097961"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agents/backoffice/.env</a:t>
            </a:r>
            <a:endParaRPr lang="en-US" sz="1950" dirty="0"/>
          </a:p>
        </p:txBody>
      </p:sp>
      <p:sp>
        <p:nvSpPr>
          <p:cNvPr id="30" name="Text 28"/>
          <p:cNvSpPr/>
          <p:nvPr/>
        </p:nvSpPr>
        <p:spPr>
          <a:xfrm>
            <a:off x="10692309" y="6256040"/>
            <a:ext cx="7097961" cy="384770"/>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solidFill>
                <a:latin typeface="Arial" pitchFamily="34" charset="0"/>
                <a:ea typeface="Arial" pitchFamily="34" charset="-122"/>
                <a:cs typeface="Arial" pitchFamily="34" charset="-120"/>
              </a:rPr>
              <a:t>Secrets, per persona. Gitignored, mounted read-only.</a:t>
            </a:r>
            <a:endParaRPr lang="en-US" sz="1950" dirty="0"/>
          </a:p>
        </p:txBody>
      </p:sp>
      <p:sp>
        <p:nvSpPr>
          <p:cNvPr id="31" name="Text 29"/>
          <p:cNvSpPr/>
          <p:nvPr/>
        </p:nvSpPr>
        <p:spPr>
          <a:xfrm>
            <a:off x="10692309" y="6850360"/>
            <a:ext cx="7097961"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Container environment</a:t>
            </a:r>
            <a:endParaRPr lang="en-US" sz="1950" dirty="0"/>
          </a:p>
        </p:txBody>
      </p:sp>
      <p:sp>
        <p:nvSpPr>
          <p:cNvPr id="32" name="Text 30"/>
          <p:cNvSpPr/>
          <p:nvPr/>
        </p:nvSpPr>
        <p:spPr>
          <a:xfrm>
            <a:off x="10692309" y="7291289"/>
            <a:ext cx="6646272"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solidFill>
                <a:latin typeface="Arial" pitchFamily="34" charset="0"/>
                <a:ea typeface="Arial" pitchFamily="34" charset="-122"/>
                <a:cs typeface="Arial" pitchFamily="34" charset="-120"/>
              </a:rPr>
              <a:t>Dashboard auth, the Hindsight endpoint, the chat-model key.</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88900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STACK</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Tech Stack</a:t>
            </a:r>
            <a:endParaRPr lang="en-US" sz="4800" dirty="0"/>
          </a:p>
        </p:txBody>
      </p:sp>
      <p:sp>
        <p:nvSpPr>
          <p:cNvPr id="6" name="Shape 4"/>
          <p:cNvSpPr/>
          <p:nvPr/>
        </p:nvSpPr>
        <p:spPr>
          <a:xfrm>
            <a:off x="1143000" y="3170237"/>
            <a:ext cx="3840460" cy="9525"/>
          </a:xfrm>
          <a:prstGeom prst="rect">
            <a:avLst/>
          </a:prstGeom>
          <a:solidFill>
            <a:srgbClr val="E6E6EC">
              <a:alpha val="16000"/>
            </a:srgbClr>
          </a:solidFill>
          <a:ln/>
        </p:spPr>
      </p:sp>
      <p:sp>
        <p:nvSpPr>
          <p:cNvPr id="7" name="Text 5"/>
          <p:cNvSpPr/>
          <p:nvPr/>
        </p:nvSpPr>
        <p:spPr>
          <a:xfrm>
            <a:off x="1143000" y="2599134"/>
            <a:ext cx="3650874" cy="418703"/>
          </a:xfrm>
          <a:prstGeom prst="rect">
            <a:avLst/>
          </a:prstGeom>
          <a:noFill/>
          <a:ln/>
        </p:spPr>
        <p:txBody>
          <a:bodyPr wrap="square" lIns="25400" tIns="25400" rIns="25400" bIns="25400" rtlCol="0" anchor="ctr">
            <a:normAutofit/>
          </a:bodyPr>
          <a:lstStyle/>
          <a:p>
            <a:pPr algn="l" indent="0" marL="0">
              <a:lnSpc>
                <a:spcPct val="137386"/>
              </a:lnSpc>
              <a:buNone/>
            </a:pPr>
            <a:r>
              <a:rPr lang="en-US" sz="1950" spc="98" kern="0" dirty="0">
                <a:solidFill>
                  <a:srgbClr val="E9E9ED">
                    <a:alpha val="55000"/>
                  </a:srgbClr>
                </a:solidFill>
                <a:latin typeface="Arial" pitchFamily="34" charset="0"/>
                <a:ea typeface="Arial" pitchFamily="34" charset="-122"/>
                <a:cs typeface="Arial" pitchFamily="34" charset="-120"/>
              </a:rPr>
              <a:t>LAYER</a:t>
            </a:r>
            <a:endParaRPr lang="en-US" sz="1950" dirty="0"/>
          </a:p>
        </p:txBody>
      </p:sp>
      <p:sp>
        <p:nvSpPr>
          <p:cNvPr id="8" name="Shape 6"/>
          <p:cNvSpPr/>
          <p:nvPr/>
        </p:nvSpPr>
        <p:spPr>
          <a:xfrm>
            <a:off x="4983460" y="3170237"/>
            <a:ext cx="7040860" cy="9525"/>
          </a:xfrm>
          <a:prstGeom prst="rect">
            <a:avLst/>
          </a:prstGeom>
          <a:solidFill>
            <a:srgbClr val="E6E6EC">
              <a:alpha val="16000"/>
            </a:srgbClr>
          </a:solidFill>
          <a:ln/>
        </p:spPr>
      </p:sp>
      <p:sp>
        <p:nvSpPr>
          <p:cNvPr id="9" name="Text 7"/>
          <p:cNvSpPr/>
          <p:nvPr/>
        </p:nvSpPr>
        <p:spPr>
          <a:xfrm>
            <a:off x="4983460" y="2599134"/>
            <a:ext cx="6947286" cy="418703"/>
          </a:xfrm>
          <a:prstGeom prst="rect">
            <a:avLst/>
          </a:prstGeom>
          <a:noFill/>
          <a:ln/>
        </p:spPr>
        <p:txBody>
          <a:bodyPr wrap="square" lIns="25400" tIns="25400" rIns="25400" bIns="25400" rtlCol="0" anchor="ctr">
            <a:normAutofit/>
          </a:bodyPr>
          <a:lstStyle/>
          <a:p>
            <a:pPr algn="l" indent="0" marL="0">
              <a:lnSpc>
                <a:spcPct val="137386"/>
              </a:lnSpc>
              <a:buNone/>
            </a:pPr>
            <a:r>
              <a:rPr lang="en-US" sz="1950" spc="98" kern="0" dirty="0">
                <a:solidFill>
                  <a:srgbClr val="E9E9ED">
                    <a:alpha val="55000"/>
                  </a:srgbClr>
                </a:solidFill>
                <a:latin typeface="Arial" pitchFamily="34" charset="0"/>
                <a:ea typeface="Arial" pitchFamily="34" charset="-122"/>
                <a:cs typeface="Arial" pitchFamily="34" charset="-120"/>
              </a:rPr>
              <a:t>WHAT RUNS</a:t>
            </a:r>
            <a:endParaRPr lang="en-US" sz="1950" dirty="0"/>
          </a:p>
        </p:txBody>
      </p:sp>
      <p:sp>
        <p:nvSpPr>
          <p:cNvPr id="10" name="Shape 8"/>
          <p:cNvSpPr/>
          <p:nvPr/>
        </p:nvSpPr>
        <p:spPr>
          <a:xfrm>
            <a:off x="12024321" y="3170237"/>
            <a:ext cx="5120680" cy="9525"/>
          </a:xfrm>
          <a:prstGeom prst="rect">
            <a:avLst/>
          </a:prstGeom>
          <a:solidFill>
            <a:srgbClr val="E6E6EC">
              <a:alpha val="16000"/>
            </a:srgbClr>
          </a:solidFill>
          <a:ln/>
        </p:spPr>
      </p:sp>
      <p:sp>
        <p:nvSpPr>
          <p:cNvPr id="11" name="Text 9"/>
          <p:cNvSpPr/>
          <p:nvPr/>
        </p:nvSpPr>
        <p:spPr>
          <a:xfrm>
            <a:off x="12024321" y="2599134"/>
            <a:ext cx="5274300" cy="418703"/>
          </a:xfrm>
          <a:prstGeom prst="rect">
            <a:avLst/>
          </a:prstGeom>
          <a:noFill/>
          <a:ln/>
        </p:spPr>
        <p:txBody>
          <a:bodyPr wrap="square" lIns="25400" tIns="25400" rIns="25400" bIns="25400" rtlCol="0" anchor="ctr">
            <a:normAutofit/>
          </a:bodyPr>
          <a:lstStyle/>
          <a:p>
            <a:pPr algn="l" indent="0" marL="0">
              <a:lnSpc>
                <a:spcPct val="137386"/>
              </a:lnSpc>
              <a:buNone/>
            </a:pPr>
            <a:r>
              <a:rPr lang="en-US" sz="1950" spc="98" kern="0" dirty="0">
                <a:solidFill>
                  <a:srgbClr val="E9E9ED">
                    <a:alpha val="55000"/>
                  </a:srgbClr>
                </a:solidFill>
                <a:latin typeface="Arial" pitchFamily="34" charset="0"/>
                <a:ea typeface="Arial" pitchFamily="34" charset="-122"/>
                <a:cs typeface="Arial" pitchFamily="34" charset="-120"/>
              </a:rPr>
              <a:t>REACHABLE FROM</a:t>
            </a:r>
            <a:endParaRPr lang="en-US" sz="1950" dirty="0"/>
          </a:p>
        </p:txBody>
      </p:sp>
      <p:sp>
        <p:nvSpPr>
          <p:cNvPr id="12" name="Shape 10"/>
          <p:cNvSpPr/>
          <p:nvPr/>
        </p:nvSpPr>
        <p:spPr>
          <a:xfrm>
            <a:off x="1143000" y="3788966"/>
            <a:ext cx="3840460" cy="9525"/>
          </a:xfrm>
          <a:prstGeom prst="rect">
            <a:avLst/>
          </a:prstGeom>
          <a:solidFill>
            <a:srgbClr val="E6E6EC">
              <a:alpha val="16000"/>
            </a:srgbClr>
          </a:solidFill>
          <a:ln/>
        </p:spPr>
      </p:sp>
      <p:sp>
        <p:nvSpPr>
          <p:cNvPr id="13" name="Text 11"/>
          <p:cNvSpPr/>
          <p:nvPr/>
        </p:nvSpPr>
        <p:spPr>
          <a:xfrm>
            <a:off x="1143000" y="3290888"/>
            <a:ext cx="3650874"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Control surface</a:t>
            </a:r>
            <a:endParaRPr lang="en-US" sz="1950" dirty="0"/>
          </a:p>
        </p:txBody>
      </p:sp>
      <p:sp>
        <p:nvSpPr>
          <p:cNvPr id="14" name="Shape 12"/>
          <p:cNvSpPr/>
          <p:nvPr/>
        </p:nvSpPr>
        <p:spPr>
          <a:xfrm>
            <a:off x="4983460" y="3788966"/>
            <a:ext cx="7040860" cy="9525"/>
          </a:xfrm>
          <a:prstGeom prst="rect">
            <a:avLst/>
          </a:prstGeom>
          <a:solidFill>
            <a:srgbClr val="E6E6EC">
              <a:alpha val="16000"/>
            </a:srgbClr>
          </a:solidFill>
          <a:ln/>
        </p:spPr>
      </p:sp>
      <p:sp>
        <p:nvSpPr>
          <p:cNvPr id="15" name="Text 13"/>
          <p:cNvSpPr/>
          <p:nvPr/>
        </p:nvSpPr>
        <p:spPr>
          <a:xfrm>
            <a:off x="4983460" y="3290888"/>
            <a:ext cx="6947286"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Hermes Desktop, Remote Gateway connection</a:t>
            </a:r>
            <a:endParaRPr lang="en-US" sz="1950" dirty="0"/>
          </a:p>
        </p:txBody>
      </p:sp>
      <p:sp>
        <p:nvSpPr>
          <p:cNvPr id="16" name="Shape 14"/>
          <p:cNvSpPr/>
          <p:nvPr/>
        </p:nvSpPr>
        <p:spPr>
          <a:xfrm>
            <a:off x="12024321" y="3788966"/>
            <a:ext cx="5120680" cy="9525"/>
          </a:xfrm>
          <a:prstGeom prst="rect">
            <a:avLst/>
          </a:prstGeom>
          <a:solidFill>
            <a:srgbClr val="E6E6EC">
              <a:alpha val="16000"/>
            </a:srgbClr>
          </a:solidFill>
          <a:ln/>
        </p:spPr>
      </p:sp>
      <p:sp>
        <p:nvSpPr>
          <p:cNvPr id="17" name="Text 15"/>
          <p:cNvSpPr/>
          <p:nvPr/>
        </p:nvSpPr>
        <p:spPr>
          <a:xfrm>
            <a:off x="12024321" y="3290888"/>
            <a:ext cx="527430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Tailnet only</a:t>
            </a:r>
            <a:endParaRPr lang="en-US" sz="1950" dirty="0"/>
          </a:p>
        </p:txBody>
      </p:sp>
      <p:sp>
        <p:nvSpPr>
          <p:cNvPr id="18" name="Shape 16"/>
          <p:cNvSpPr/>
          <p:nvPr/>
        </p:nvSpPr>
        <p:spPr>
          <a:xfrm>
            <a:off x="1143000" y="4791472"/>
            <a:ext cx="3840460" cy="9525"/>
          </a:xfrm>
          <a:prstGeom prst="rect">
            <a:avLst/>
          </a:prstGeom>
          <a:solidFill>
            <a:srgbClr val="E6E6EC">
              <a:alpha val="16000"/>
            </a:srgbClr>
          </a:solidFill>
          <a:ln/>
        </p:spPr>
      </p:sp>
      <p:sp>
        <p:nvSpPr>
          <p:cNvPr id="19" name="Text 17"/>
          <p:cNvSpPr/>
          <p:nvPr/>
        </p:nvSpPr>
        <p:spPr>
          <a:xfrm>
            <a:off x="1143000" y="3909616"/>
            <a:ext cx="3650874" cy="805656"/>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Agent runtime</a:t>
            </a:r>
            <a:endParaRPr lang="en-US" sz="1950" dirty="0"/>
          </a:p>
        </p:txBody>
      </p:sp>
      <p:sp>
        <p:nvSpPr>
          <p:cNvPr id="20" name="Shape 18"/>
          <p:cNvSpPr/>
          <p:nvPr/>
        </p:nvSpPr>
        <p:spPr>
          <a:xfrm>
            <a:off x="4983460" y="4791472"/>
            <a:ext cx="7040860" cy="9525"/>
          </a:xfrm>
          <a:prstGeom prst="rect">
            <a:avLst/>
          </a:prstGeom>
          <a:solidFill>
            <a:srgbClr val="E6E6EC">
              <a:alpha val="16000"/>
            </a:srgbClr>
          </a:solidFill>
          <a:ln/>
        </p:spPr>
      </p:sp>
      <p:sp>
        <p:nvSpPr>
          <p:cNvPr id="21" name="Text 19"/>
          <p:cNvSpPr/>
          <p:nvPr/>
        </p:nvSpPr>
        <p:spPr>
          <a:xfrm>
            <a:off x="4983460" y="3909616"/>
            <a:ext cx="6947286" cy="805656"/>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Hermes Agent, built one layer on top of the upstream image</a:t>
            </a:r>
            <a:endParaRPr lang="en-US" sz="1950" dirty="0"/>
          </a:p>
        </p:txBody>
      </p:sp>
      <p:sp>
        <p:nvSpPr>
          <p:cNvPr id="22" name="Shape 20"/>
          <p:cNvSpPr/>
          <p:nvPr/>
        </p:nvSpPr>
        <p:spPr>
          <a:xfrm>
            <a:off x="12024321" y="4791472"/>
            <a:ext cx="5120680" cy="9525"/>
          </a:xfrm>
          <a:prstGeom prst="rect">
            <a:avLst/>
          </a:prstGeom>
          <a:solidFill>
            <a:srgbClr val="E6E6EC">
              <a:alpha val="16000"/>
            </a:srgbClr>
          </a:solidFill>
          <a:ln/>
        </p:spPr>
      </p:sp>
      <p:sp>
        <p:nvSpPr>
          <p:cNvPr id="23" name="Text 21"/>
          <p:cNvSpPr/>
          <p:nvPr/>
        </p:nvSpPr>
        <p:spPr>
          <a:xfrm>
            <a:off x="12024321" y="3909616"/>
            <a:ext cx="5274300" cy="805656"/>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:9119 on the Tailscale IP</a:t>
            </a:r>
            <a:endParaRPr lang="en-US" sz="1950" dirty="0"/>
          </a:p>
        </p:txBody>
      </p:sp>
      <p:sp>
        <p:nvSpPr>
          <p:cNvPr id="24" name="Shape 22"/>
          <p:cNvSpPr/>
          <p:nvPr/>
        </p:nvSpPr>
        <p:spPr>
          <a:xfrm>
            <a:off x="1143000" y="5410200"/>
            <a:ext cx="3840460" cy="9525"/>
          </a:xfrm>
          <a:prstGeom prst="rect">
            <a:avLst/>
          </a:prstGeom>
          <a:solidFill>
            <a:srgbClr val="E6E6EC">
              <a:alpha val="16000"/>
            </a:srgbClr>
          </a:solidFill>
          <a:ln/>
        </p:spPr>
      </p:sp>
      <p:sp>
        <p:nvSpPr>
          <p:cNvPr id="25" name="Text 23"/>
          <p:cNvSpPr/>
          <p:nvPr/>
        </p:nvSpPr>
        <p:spPr>
          <a:xfrm>
            <a:off x="1143000" y="4912122"/>
            <a:ext cx="3650874"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Chat model</a:t>
            </a:r>
            <a:endParaRPr lang="en-US" sz="1950" dirty="0"/>
          </a:p>
        </p:txBody>
      </p:sp>
      <p:sp>
        <p:nvSpPr>
          <p:cNvPr id="26" name="Shape 24"/>
          <p:cNvSpPr/>
          <p:nvPr/>
        </p:nvSpPr>
        <p:spPr>
          <a:xfrm>
            <a:off x="4983460" y="5410200"/>
            <a:ext cx="7040860" cy="9525"/>
          </a:xfrm>
          <a:prstGeom prst="rect">
            <a:avLst/>
          </a:prstGeom>
          <a:solidFill>
            <a:srgbClr val="E6E6EC">
              <a:alpha val="16000"/>
            </a:srgbClr>
          </a:solidFill>
          <a:ln/>
        </p:spPr>
      </p:sp>
      <p:sp>
        <p:nvSpPr>
          <p:cNvPr id="27" name="Text 25"/>
          <p:cNvSpPr/>
          <p:nvPr/>
        </p:nvSpPr>
        <p:spPr>
          <a:xfrm>
            <a:off x="4983460" y="4912122"/>
            <a:ext cx="6947286"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DeepSeek v4 Flash, routed through OpenRouter</a:t>
            </a:r>
            <a:endParaRPr lang="en-US" sz="1950" dirty="0"/>
          </a:p>
        </p:txBody>
      </p:sp>
      <p:sp>
        <p:nvSpPr>
          <p:cNvPr id="28" name="Shape 26"/>
          <p:cNvSpPr/>
          <p:nvPr/>
        </p:nvSpPr>
        <p:spPr>
          <a:xfrm>
            <a:off x="12024321" y="5410200"/>
            <a:ext cx="5120680" cy="9525"/>
          </a:xfrm>
          <a:prstGeom prst="rect">
            <a:avLst/>
          </a:prstGeom>
          <a:solidFill>
            <a:srgbClr val="E6E6EC">
              <a:alpha val="16000"/>
            </a:srgbClr>
          </a:solidFill>
          <a:ln/>
        </p:spPr>
      </p:sp>
      <p:sp>
        <p:nvSpPr>
          <p:cNvPr id="29" name="Text 27"/>
          <p:cNvSpPr/>
          <p:nvPr/>
        </p:nvSpPr>
        <p:spPr>
          <a:xfrm>
            <a:off x="12024321" y="4912122"/>
            <a:ext cx="527430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Outbound only</a:t>
            </a:r>
            <a:endParaRPr lang="en-US" sz="1950" dirty="0"/>
          </a:p>
        </p:txBody>
      </p:sp>
      <p:sp>
        <p:nvSpPr>
          <p:cNvPr id="30" name="Shape 28"/>
          <p:cNvSpPr/>
          <p:nvPr/>
        </p:nvSpPr>
        <p:spPr>
          <a:xfrm>
            <a:off x="1143000" y="6028928"/>
            <a:ext cx="3840460" cy="9525"/>
          </a:xfrm>
          <a:prstGeom prst="rect">
            <a:avLst/>
          </a:prstGeom>
          <a:solidFill>
            <a:srgbClr val="E6E6EC">
              <a:alpha val="16000"/>
            </a:srgbClr>
          </a:solidFill>
          <a:ln/>
        </p:spPr>
      </p:sp>
      <p:sp>
        <p:nvSpPr>
          <p:cNvPr id="31" name="Text 29"/>
          <p:cNvSpPr/>
          <p:nvPr/>
        </p:nvSpPr>
        <p:spPr>
          <a:xfrm>
            <a:off x="1143000" y="5530850"/>
            <a:ext cx="3650874"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Memory server</a:t>
            </a:r>
            <a:endParaRPr lang="en-US" sz="1950" dirty="0"/>
          </a:p>
        </p:txBody>
      </p:sp>
      <p:sp>
        <p:nvSpPr>
          <p:cNvPr id="32" name="Shape 30"/>
          <p:cNvSpPr/>
          <p:nvPr/>
        </p:nvSpPr>
        <p:spPr>
          <a:xfrm>
            <a:off x="4983460" y="6028928"/>
            <a:ext cx="7040860" cy="9525"/>
          </a:xfrm>
          <a:prstGeom prst="rect">
            <a:avLst/>
          </a:prstGeom>
          <a:solidFill>
            <a:srgbClr val="E6E6EC">
              <a:alpha val="16000"/>
            </a:srgbClr>
          </a:solidFill>
          <a:ln/>
        </p:spPr>
      </p:sp>
      <p:sp>
        <p:nvSpPr>
          <p:cNvPr id="33" name="Text 31"/>
          <p:cNvSpPr/>
          <p:nvPr/>
        </p:nvSpPr>
        <p:spPr>
          <a:xfrm>
            <a:off x="4983460" y="5530850"/>
            <a:ext cx="6947286"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Hindsight, as a sidecar container</a:t>
            </a:r>
            <a:endParaRPr lang="en-US" sz="1950" dirty="0"/>
          </a:p>
        </p:txBody>
      </p:sp>
      <p:sp>
        <p:nvSpPr>
          <p:cNvPr id="34" name="Shape 32"/>
          <p:cNvSpPr/>
          <p:nvPr/>
        </p:nvSpPr>
        <p:spPr>
          <a:xfrm>
            <a:off x="12024321" y="6028928"/>
            <a:ext cx="5120680" cy="9525"/>
          </a:xfrm>
          <a:prstGeom prst="rect">
            <a:avLst/>
          </a:prstGeom>
          <a:solidFill>
            <a:srgbClr val="E6E6EC">
              <a:alpha val="16000"/>
            </a:srgbClr>
          </a:solidFill>
          <a:ln/>
        </p:spPr>
      </p:sp>
      <p:sp>
        <p:nvSpPr>
          <p:cNvPr id="35" name="Text 33"/>
          <p:cNvSpPr/>
          <p:nvPr/>
        </p:nvSpPr>
        <p:spPr>
          <a:xfrm>
            <a:off x="12024321" y="5530850"/>
            <a:ext cx="527430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Internal network</a:t>
            </a:r>
            <a:endParaRPr lang="en-US" sz="1950" dirty="0"/>
          </a:p>
        </p:txBody>
      </p:sp>
      <p:sp>
        <p:nvSpPr>
          <p:cNvPr id="36" name="Shape 34"/>
          <p:cNvSpPr/>
          <p:nvPr/>
        </p:nvSpPr>
        <p:spPr>
          <a:xfrm>
            <a:off x="1143000" y="6647656"/>
            <a:ext cx="3840460" cy="9525"/>
          </a:xfrm>
          <a:prstGeom prst="rect">
            <a:avLst/>
          </a:prstGeom>
          <a:solidFill>
            <a:srgbClr val="E6E6EC">
              <a:alpha val="16000"/>
            </a:srgbClr>
          </a:solidFill>
          <a:ln/>
        </p:spPr>
      </p:sp>
      <p:sp>
        <p:nvSpPr>
          <p:cNvPr id="37" name="Text 35"/>
          <p:cNvSpPr/>
          <p:nvPr/>
        </p:nvSpPr>
        <p:spPr>
          <a:xfrm>
            <a:off x="1143000" y="6149578"/>
            <a:ext cx="3650874"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Extraction model</a:t>
            </a:r>
            <a:endParaRPr lang="en-US" sz="1950" dirty="0"/>
          </a:p>
        </p:txBody>
      </p:sp>
      <p:sp>
        <p:nvSpPr>
          <p:cNvPr id="38" name="Shape 36"/>
          <p:cNvSpPr/>
          <p:nvPr/>
        </p:nvSpPr>
        <p:spPr>
          <a:xfrm>
            <a:off x="4983460" y="6647656"/>
            <a:ext cx="7040860" cy="9525"/>
          </a:xfrm>
          <a:prstGeom prst="rect">
            <a:avLst/>
          </a:prstGeom>
          <a:solidFill>
            <a:srgbClr val="E6E6EC">
              <a:alpha val="16000"/>
            </a:srgbClr>
          </a:solidFill>
          <a:ln/>
        </p:spPr>
      </p:sp>
      <p:sp>
        <p:nvSpPr>
          <p:cNvPr id="39" name="Text 37"/>
          <p:cNvSpPr/>
          <p:nvPr/>
        </p:nvSpPr>
        <p:spPr>
          <a:xfrm>
            <a:off x="4983460" y="6149578"/>
            <a:ext cx="6947286"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Separate provider, key and model slot from the chat path</a:t>
            </a:r>
            <a:endParaRPr lang="en-US" sz="1950" dirty="0"/>
          </a:p>
        </p:txBody>
      </p:sp>
      <p:sp>
        <p:nvSpPr>
          <p:cNvPr id="40" name="Shape 38"/>
          <p:cNvSpPr/>
          <p:nvPr/>
        </p:nvSpPr>
        <p:spPr>
          <a:xfrm>
            <a:off x="12024321" y="6647656"/>
            <a:ext cx="5120680" cy="9525"/>
          </a:xfrm>
          <a:prstGeom prst="rect">
            <a:avLst/>
          </a:prstGeom>
          <a:solidFill>
            <a:srgbClr val="E6E6EC">
              <a:alpha val="16000"/>
            </a:srgbClr>
          </a:solidFill>
          <a:ln/>
        </p:spPr>
      </p:sp>
      <p:sp>
        <p:nvSpPr>
          <p:cNvPr id="41" name="Text 39"/>
          <p:cNvSpPr/>
          <p:nvPr/>
        </p:nvSpPr>
        <p:spPr>
          <a:xfrm>
            <a:off x="12024321" y="6149578"/>
            <a:ext cx="527430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Outbound only</a:t>
            </a:r>
            <a:endParaRPr lang="en-US" sz="1950" dirty="0"/>
          </a:p>
        </p:txBody>
      </p:sp>
      <p:sp>
        <p:nvSpPr>
          <p:cNvPr id="42" name="Shape 40"/>
          <p:cNvSpPr/>
          <p:nvPr/>
        </p:nvSpPr>
        <p:spPr>
          <a:xfrm>
            <a:off x="1143000" y="7266385"/>
            <a:ext cx="3840460" cy="9525"/>
          </a:xfrm>
          <a:prstGeom prst="rect">
            <a:avLst/>
          </a:prstGeom>
          <a:solidFill>
            <a:srgbClr val="E6E6EC">
              <a:alpha val="16000"/>
            </a:srgbClr>
          </a:solidFill>
          <a:ln/>
        </p:spPr>
      </p:sp>
      <p:sp>
        <p:nvSpPr>
          <p:cNvPr id="43" name="Text 41"/>
          <p:cNvSpPr/>
          <p:nvPr/>
        </p:nvSpPr>
        <p:spPr>
          <a:xfrm>
            <a:off x="1143000" y="6768307"/>
            <a:ext cx="3650874"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Memory store</a:t>
            </a:r>
            <a:endParaRPr lang="en-US" sz="1950" dirty="0"/>
          </a:p>
        </p:txBody>
      </p:sp>
      <p:sp>
        <p:nvSpPr>
          <p:cNvPr id="44" name="Shape 42"/>
          <p:cNvSpPr/>
          <p:nvPr/>
        </p:nvSpPr>
        <p:spPr>
          <a:xfrm>
            <a:off x="4983460" y="7266385"/>
            <a:ext cx="7040860" cy="9525"/>
          </a:xfrm>
          <a:prstGeom prst="rect">
            <a:avLst/>
          </a:prstGeom>
          <a:solidFill>
            <a:srgbClr val="E6E6EC">
              <a:alpha val="16000"/>
            </a:srgbClr>
          </a:solidFill>
          <a:ln/>
        </p:spPr>
      </p:sp>
      <p:sp>
        <p:nvSpPr>
          <p:cNvPr id="45" name="Text 43"/>
          <p:cNvSpPr/>
          <p:nvPr/>
        </p:nvSpPr>
        <p:spPr>
          <a:xfrm>
            <a:off x="4983460" y="6768307"/>
            <a:ext cx="6947286"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PostgreSQL 18 with pgvector, on a named volume</a:t>
            </a:r>
            <a:endParaRPr lang="en-US" sz="1950" dirty="0"/>
          </a:p>
        </p:txBody>
      </p:sp>
      <p:sp>
        <p:nvSpPr>
          <p:cNvPr id="46" name="Shape 44"/>
          <p:cNvSpPr/>
          <p:nvPr/>
        </p:nvSpPr>
        <p:spPr>
          <a:xfrm>
            <a:off x="12024321" y="7266385"/>
            <a:ext cx="5120680" cy="9525"/>
          </a:xfrm>
          <a:prstGeom prst="rect">
            <a:avLst/>
          </a:prstGeom>
          <a:solidFill>
            <a:srgbClr val="E6E6EC">
              <a:alpha val="16000"/>
            </a:srgbClr>
          </a:solidFill>
          <a:ln/>
        </p:spPr>
      </p:sp>
      <p:sp>
        <p:nvSpPr>
          <p:cNvPr id="47" name="Text 45"/>
          <p:cNvSpPr/>
          <p:nvPr/>
        </p:nvSpPr>
        <p:spPr>
          <a:xfrm>
            <a:off x="12024321" y="6768307"/>
            <a:ext cx="527430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Internal network</a:t>
            </a:r>
            <a:endParaRPr lang="en-US" sz="1950" dirty="0"/>
          </a:p>
        </p:txBody>
      </p:sp>
      <p:sp>
        <p:nvSpPr>
          <p:cNvPr id="48" name="Shape 46"/>
          <p:cNvSpPr/>
          <p:nvPr/>
        </p:nvSpPr>
        <p:spPr>
          <a:xfrm>
            <a:off x="1143000" y="8268891"/>
            <a:ext cx="3840460" cy="9525"/>
          </a:xfrm>
          <a:prstGeom prst="rect">
            <a:avLst/>
          </a:prstGeom>
          <a:solidFill>
            <a:srgbClr val="E6E6EC">
              <a:alpha val="16000"/>
            </a:srgbClr>
          </a:solidFill>
          <a:ln/>
        </p:spPr>
      </p:sp>
      <p:sp>
        <p:nvSpPr>
          <p:cNvPr id="49" name="Text 47"/>
          <p:cNvSpPr/>
          <p:nvPr/>
        </p:nvSpPr>
        <p:spPr>
          <a:xfrm>
            <a:off x="1143000" y="7387035"/>
            <a:ext cx="3650874" cy="805656"/>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Systems of record</a:t>
            </a:r>
            <a:endParaRPr lang="en-US" sz="1950" dirty="0"/>
          </a:p>
        </p:txBody>
      </p:sp>
      <p:sp>
        <p:nvSpPr>
          <p:cNvPr id="50" name="Shape 48"/>
          <p:cNvSpPr/>
          <p:nvPr/>
        </p:nvSpPr>
        <p:spPr>
          <a:xfrm>
            <a:off x="4983460" y="8268891"/>
            <a:ext cx="7040860" cy="9525"/>
          </a:xfrm>
          <a:prstGeom prst="rect">
            <a:avLst/>
          </a:prstGeom>
          <a:solidFill>
            <a:srgbClr val="E6E6EC">
              <a:alpha val="16000"/>
            </a:srgbClr>
          </a:solidFill>
          <a:ln/>
        </p:spPr>
      </p:sp>
      <p:sp>
        <p:nvSpPr>
          <p:cNvPr id="51" name="Text 49"/>
          <p:cNvSpPr/>
          <p:nvPr/>
        </p:nvSpPr>
        <p:spPr>
          <a:xfrm>
            <a:off x="4983460" y="7387035"/>
            <a:ext cx="6947286" cy="805656"/>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CRM lookups through a skill, read-only. Email and OneDrive planned</a:t>
            </a:r>
            <a:endParaRPr lang="en-US" sz="1950" dirty="0"/>
          </a:p>
        </p:txBody>
      </p:sp>
      <p:sp>
        <p:nvSpPr>
          <p:cNvPr id="52" name="Shape 50"/>
          <p:cNvSpPr/>
          <p:nvPr/>
        </p:nvSpPr>
        <p:spPr>
          <a:xfrm>
            <a:off x="12024321" y="8268891"/>
            <a:ext cx="5120680" cy="9525"/>
          </a:xfrm>
          <a:prstGeom prst="rect">
            <a:avLst/>
          </a:prstGeom>
          <a:solidFill>
            <a:srgbClr val="E6E6EC">
              <a:alpha val="16000"/>
            </a:srgbClr>
          </a:solidFill>
          <a:ln/>
        </p:spPr>
      </p:sp>
      <p:sp>
        <p:nvSpPr>
          <p:cNvPr id="53" name="Text 51"/>
          <p:cNvSpPr/>
          <p:nvPr/>
        </p:nvSpPr>
        <p:spPr>
          <a:xfrm>
            <a:off x="12024321" y="7387035"/>
            <a:ext cx="5274300" cy="805656"/>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Outbound only</a:t>
            </a:r>
            <a:endParaRPr lang="en-US" sz="1950" dirty="0"/>
          </a:p>
        </p:txBody>
      </p:sp>
      <p:sp>
        <p:nvSpPr>
          <p:cNvPr id="54" name="Text 52"/>
          <p:cNvSpPr/>
          <p:nvPr/>
        </p:nvSpPr>
        <p:spPr>
          <a:xfrm>
            <a:off x="1143000" y="8389541"/>
            <a:ext cx="3650874" cy="808831"/>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Second surface</a:t>
            </a:r>
            <a:endParaRPr lang="en-US" sz="1950" dirty="0"/>
          </a:p>
        </p:txBody>
      </p:sp>
      <p:sp>
        <p:nvSpPr>
          <p:cNvPr id="55" name="Text 53"/>
          <p:cNvSpPr/>
          <p:nvPr/>
        </p:nvSpPr>
        <p:spPr>
          <a:xfrm>
            <a:off x="4983460" y="8389541"/>
            <a:ext cx="6947286" cy="808831"/>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Slack, over Socket Mode — no inbound port, no compose change</a:t>
            </a:r>
            <a:endParaRPr lang="en-US" sz="1950" dirty="0"/>
          </a:p>
        </p:txBody>
      </p:sp>
      <p:sp>
        <p:nvSpPr>
          <p:cNvPr id="56" name="Text 54"/>
          <p:cNvSpPr/>
          <p:nvPr/>
        </p:nvSpPr>
        <p:spPr>
          <a:xfrm>
            <a:off x="12024321" y="8389541"/>
            <a:ext cx="5274300" cy="808831"/>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Outbound WebSocket</a:t>
            </a:r>
            <a:endParaRPr lang="en-US" sz="1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62A6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353B80">
                  <a:alpha val="100000"/>
                </a:srgbClr>
              </a:gs>
              <a:gs pos="62000">
                <a:srgbClr val="353B80">
                  <a:alpha val="0"/>
                </a:srgbClr>
              </a:gs>
            </a:gsLst>
            <a:path path="circle">
              <a:fillToRect l="88000" t="0" r="12000" b="100000"/>
            </a:path>
          </a:gradFill>
          <a:ln/>
        </p:spPr>
      </p:sp>
      <p:sp>
        <p:nvSpPr>
          <p:cNvPr id="3" name="Shape 1"/>
          <p:cNvSpPr/>
          <p:nvPr/>
        </p:nvSpPr>
        <p:spPr>
          <a:xfrm>
            <a:off x="1143000" y="1162943"/>
            <a:ext cx="419100" cy="9525"/>
          </a:xfrm>
          <a:prstGeom prst="rect">
            <a:avLst/>
          </a:prstGeom>
          <a:solidFill>
            <a:srgbClr val="D2CEFD"/>
          </a:solidFill>
          <a:ln/>
        </p:spPr>
      </p:sp>
      <p:sp>
        <p:nvSpPr>
          <p:cNvPr id="4" name="Text 2"/>
          <p:cNvSpPr/>
          <p:nvPr/>
        </p:nvSpPr>
        <p:spPr>
          <a:xfrm>
            <a:off x="1752600" y="990600"/>
            <a:ext cx="1180505"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D2CEFD"/>
                </a:solidFill>
                <a:latin typeface="Arial" pitchFamily="34" charset="0"/>
                <a:ea typeface="Arial" pitchFamily="34" charset="-122"/>
                <a:cs typeface="Arial" pitchFamily="34" charset="-120"/>
              </a:rPr>
              <a:t>MEMORY</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The Memory Model</a:t>
            </a:r>
            <a:endParaRPr lang="en-US" sz="4800" dirty="0"/>
          </a:p>
        </p:txBody>
      </p:sp>
      <p:sp>
        <p:nvSpPr>
          <p:cNvPr id="6" name="Shape 4"/>
          <p:cNvSpPr/>
          <p:nvPr/>
        </p:nvSpPr>
        <p:spPr>
          <a:xfrm>
            <a:off x="1143000" y="2980134"/>
            <a:ext cx="3771900" cy="9525"/>
          </a:xfrm>
          <a:prstGeom prst="rect">
            <a:avLst/>
          </a:prstGeom>
          <a:solidFill>
            <a:srgbClr val="E6E6FF">
              <a:alpha val="40000"/>
            </a:srgbClr>
          </a:solidFill>
          <a:ln/>
        </p:spPr>
      </p:sp>
      <p:sp>
        <p:nvSpPr>
          <p:cNvPr id="7" name="Text 5"/>
          <p:cNvSpPr/>
          <p:nvPr/>
        </p:nvSpPr>
        <p:spPr>
          <a:xfrm>
            <a:off x="1143000" y="3215085"/>
            <a:ext cx="4149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01</a:t>
            </a:r>
            <a:endParaRPr lang="en-US" sz="1950" dirty="0"/>
          </a:p>
        </p:txBody>
      </p:sp>
      <p:sp>
        <p:nvSpPr>
          <p:cNvPr id="8" name="Text 6"/>
          <p:cNvSpPr/>
          <p:nvPr/>
        </p:nvSpPr>
        <p:spPr>
          <a:xfrm>
            <a:off x="1143000" y="3732213"/>
            <a:ext cx="4149090"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dirty="0">
                <a:solidFill>
                  <a:srgbClr val="E9E9ED"/>
                </a:solidFill>
                <a:latin typeface="Arial" pitchFamily="34" charset="0"/>
                <a:ea typeface="Arial" pitchFamily="34" charset="-122"/>
                <a:cs typeface="Arial" pitchFamily="34" charset="-120"/>
              </a:rPr>
              <a:t>Turn syncs</a:t>
            </a:r>
            <a:endParaRPr lang="en-US" sz="2400" dirty="0"/>
          </a:p>
        </p:txBody>
      </p:sp>
      <p:sp>
        <p:nvSpPr>
          <p:cNvPr id="9" name="Text 7"/>
          <p:cNvSpPr/>
          <p:nvPr/>
        </p:nvSpPr>
        <p:spPr>
          <a:xfrm>
            <a:off x="1143000" y="4227513"/>
            <a:ext cx="3885057"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alpha val="78000"/>
                  </a:srgbClr>
                </a:solidFill>
                <a:latin typeface="Arial" pitchFamily="34" charset="0"/>
                <a:ea typeface="Arial" pitchFamily="34" charset="-122"/>
                <a:cs typeface="Arial" pitchFamily="34" charset="-120"/>
              </a:rPr>
              <a:t>Hermes pushes each exchange to Hindsight after the response.</a:t>
            </a:r>
            <a:endParaRPr lang="en-US" sz="1950" dirty="0"/>
          </a:p>
        </p:txBody>
      </p:sp>
      <p:sp>
        <p:nvSpPr>
          <p:cNvPr id="10" name="Shape 8"/>
          <p:cNvSpPr/>
          <p:nvPr/>
        </p:nvSpPr>
        <p:spPr>
          <a:xfrm>
            <a:off x="5219700" y="2980134"/>
            <a:ext cx="3771900" cy="9525"/>
          </a:xfrm>
          <a:prstGeom prst="rect">
            <a:avLst/>
          </a:prstGeom>
          <a:solidFill>
            <a:srgbClr val="E6E6FF">
              <a:alpha val="40000"/>
            </a:srgbClr>
          </a:solidFill>
          <a:ln/>
        </p:spPr>
      </p:sp>
      <p:sp>
        <p:nvSpPr>
          <p:cNvPr id="11" name="Text 9"/>
          <p:cNvSpPr/>
          <p:nvPr/>
        </p:nvSpPr>
        <p:spPr>
          <a:xfrm>
            <a:off x="5219700" y="3215085"/>
            <a:ext cx="4149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02</a:t>
            </a:r>
            <a:endParaRPr lang="en-US" sz="1950" dirty="0"/>
          </a:p>
        </p:txBody>
      </p:sp>
      <p:sp>
        <p:nvSpPr>
          <p:cNvPr id="12" name="Text 10"/>
          <p:cNvSpPr/>
          <p:nvPr/>
        </p:nvSpPr>
        <p:spPr>
          <a:xfrm>
            <a:off x="5219700" y="3732213"/>
            <a:ext cx="4149090"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dirty="0">
                <a:solidFill>
                  <a:srgbClr val="E9E9ED"/>
                </a:solidFill>
                <a:latin typeface="Arial" pitchFamily="34" charset="0"/>
                <a:ea typeface="Arial" pitchFamily="34" charset="-122"/>
                <a:cs typeface="Arial" pitchFamily="34" charset="-120"/>
              </a:rPr>
              <a:t>Extraction</a:t>
            </a:r>
            <a:endParaRPr lang="en-US" sz="2400" dirty="0"/>
          </a:p>
        </p:txBody>
      </p:sp>
      <p:sp>
        <p:nvSpPr>
          <p:cNvPr id="13" name="Text 11"/>
          <p:cNvSpPr/>
          <p:nvPr/>
        </p:nvSpPr>
        <p:spPr>
          <a:xfrm>
            <a:off x="5219700" y="4227513"/>
            <a:ext cx="3885057" cy="73144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alpha val="78000"/>
                  </a:srgbClr>
                </a:solidFill>
                <a:latin typeface="Arial" pitchFamily="34" charset="0"/>
                <a:ea typeface="Arial" pitchFamily="34" charset="-122"/>
                <a:cs typeface="Arial" pitchFamily="34" charset="-120"/>
              </a:rPr>
              <a:t>A separate, higher-volume LLM call pulls out facts and entities.</a:t>
            </a:r>
            <a:endParaRPr lang="en-US" sz="1950" dirty="0"/>
          </a:p>
        </p:txBody>
      </p:sp>
      <p:sp>
        <p:nvSpPr>
          <p:cNvPr id="14" name="Shape 12"/>
          <p:cNvSpPr/>
          <p:nvPr/>
        </p:nvSpPr>
        <p:spPr>
          <a:xfrm>
            <a:off x="9296400" y="2980134"/>
            <a:ext cx="3771900" cy="9525"/>
          </a:xfrm>
          <a:prstGeom prst="rect">
            <a:avLst/>
          </a:prstGeom>
          <a:solidFill>
            <a:srgbClr val="E6E6FF">
              <a:alpha val="40000"/>
            </a:srgbClr>
          </a:solidFill>
          <a:ln/>
        </p:spPr>
      </p:sp>
      <p:sp>
        <p:nvSpPr>
          <p:cNvPr id="15" name="Text 13"/>
          <p:cNvSpPr/>
          <p:nvPr/>
        </p:nvSpPr>
        <p:spPr>
          <a:xfrm>
            <a:off x="9296400" y="3215085"/>
            <a:ext cx="4149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03</a:t>
            </a:r>
            <a:endParaRPr lang="en-US" sz="1950" dirty="0"/>
          </a:p>
        </p:txBody>
      </p:sp>
      <p:sp>
        <p:nvSpPr>
          <p:cNvPr id="16" name="Text 14"/>
          <p:cNvSpPr/>
          <p:nvPr/>
        </p:nvSpPr>
        <p:spPr>
          <a:xfrm>
            <a:off x="9296400" y="3732213"/>
            <a:ext cx="4149090"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dirty="0">
                <a:solidFill>
                  <a:srgbClr val="E9E9ED"/>
                </a:solidFill>
                <a:latin typeface="Arial" pitchFamily="34" charset="0"/>
                <a:ea typeface="Arial" pitchFamily="34" charset="-122"/>
                <a:cs typeface="Arial" pitchFamily="34" charset="-120"/>
              </a:rPr>
              <a:t>Storage</a:t>
            </a:r>
            <a:endParaRPr lang="en-US" sz="2400" dirty="0"/>
          </a:p>
        </p:txBody>
      </p:sp>
      <p:sp>
        <p:nvSpPr>
          <p:cNvPr id="17" name="Text 15"/>
          <p:cNvSpPr/>
          <p:nvPr/>
        </p:nvSpPr>
        <p:spPr>
          <a:xfrm>
            <a:off x="9296400" y="4227513"/>
            <a:ext cx="3885057" cy="107811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alpha val="78000"/>
                  </a:srgbClr>
                </a:solidFill>
                <a:latin typeface="Arial" pitchFamily="34" charset="0"/>
                <a:ea typeface="Arial" pitchFamily="34" charset="-122"/>
                <a:cs typeface="Arial" pitchFamily="34" charset="-120"/>
              </a:rPr>
              <a:t>Facts, entities and graph edges land in pgvector alongside embeddings.</a:t>
            </a:r>
            <a:endParaRPr lang="en-US" sz="1950" dirty="0"/>
          </a:p>
        </p:txBody>
      </p:sp>
      <p:sp>
        <p:nvSpPr>
          <p:cNvPr id="18" name="Shape 16"/>
          <p:cNvSpPr/>
          <p:nvPr/>
        </p:nvSpPr>
        <p:spPr>
          <a:xfrm>
            <a:off x="13373100" y="2980134"/>
            <a:ext cx="3771900" cy="9525"/>
          </a:xfrm>
          <a:prstGeom prst="rect">
            <a:avLst/>
          </a:prstGeom>
          <a:solidFill>
            <a:srgbClr val="E6E6FF">
              <a:alpha val="40000"/>
            </a:srgbClr>
          </a:solidFill>
          <a:ln/>
        </p:spPr>
      </p:sp>
      <p:sp>
        <p:nvSpPr>
          <p:cNvPr id="19" name="Text 17"/>
          <p:cNvSpPr/>
          <p:nvPr/>
        </p:nvSpPr>
        <p:spPr>
          <a:xfrm>
            <a:off x="13373100" y="3215085"/>
            <a:ext cx="4149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04</a:t>
            </a:r>
            <a:endParaRPr lang="en-US" sz="1950" dirty="0"/>
          </a:p>
        </p:txBody>
      </p:sp>
      <p:sp>
        <p:nvSpPr>
          <p:cNvPr id="20" name="Text 18"/>
          <p:cNvSpPr/>
          <p:nvPr/>
        </p:nvSpPr>
        <p:spPr>
          <a:xfrm>
            <a:off x="13373100" y="3732213"/>
            <a:ext cx="4149090" cy="419100"/>
          </a:xfrm>
          <a:prstGeom prst="rect">
            <a:avLst/>
          </a:prstGeom>
          <a:noFill/>
          <a:ln/>
        </p:spPr>
        <p:txBody>
          <a:bodyPr wrap="square" lIns="25400" tIns="25400" rIns="25400" bIns="25400" rtlCol="0" anchor="t">
            <a:normAutofit/>
          </a:bodyPr>
          <a:lstStyle/>
          <a:p>
            <a:pPr algn="l" indent="0" marL="0">
              <a:lnSpc>
                <a:spcPct val="109091"/>
              </a:lnSpc>
              <a:buNone/>
            </a:pPr>
            <a:r>
              <a:rPr lang="en-US" sz="2400" dirty="0">
                <a:solidFill>
                  <a:srgbClr val="E9E9ED"/>
                </a:solidFill>
                <a:latin typeface="Arial" pitchFamily="34" charset="0"/>
                <a:ea typeface="Arial" pitchFamily="34" charset="-122"/>
                <a:cs typeface="Arial" pitchFamily="34" charset="-120"/>
              </a:rPr>
              <a:t>Recall</a:t>
            </a:r>
            <a:endParaRPr lang="en-US" sz="2400" dirty="0"/>
          </a:p>
        </p:txBody>
      </p:sp>
      <p:sp>
        <p:nvSpPr>
          <p:cNvPr id="21" name="Text 19"/>
          <p:cNvSpPr/>
          <p:nvPr/>
        </p:nvSpPr>
        <p:spPr>
          <a:xfrm>
            <a:off x="13373100" y="4227513"/>
            <a:ext cx="3885057" cy="1078111"/>
          </a:xfrm>
          <a:prstGeom prst="rect">
            <a:avLst/>
          </a:prstGeom>
          <a:noFill/>
          <a:ln/>
        </p:spPr>
        <p:txBody>
          <a:bodyPr wrap="square" lIns="25400" tIns="25400" rIns="25400" bIns="25400" rtlCol="0" anchor="t">
            <a:normAutofit/>
          </a:bodyPr>
          <a:lstStyle/>
          <a:p>
            <a:pPr algn="l" indent="0" marL="0">
              <a:lnSpc>
                <a:spcPct val="124091"/>
              </a:lnSpc>
              <a:buNone/>
            </a:pPr>
            <a:r>
              <a:rPr lang="en-US" sz="1950" dirty="0">
                <a:solidFill>
                  <a:srgbClr val="E9E9ED">
                    <a:alpha val="78000"/>
                  </a:srgbClr>
                </a:solidFill>
                <a:latin typeface="Arial" pitchFamily="34" charset="0"/>
                <a:ea typeface="Arial" pitchFamily="34" charset="-122"/>
                <a:cs typeface="Arial" pitchFamily="34" charset="-120"/>
              </a:rPr>
              <a:t>Retrieved memory fills the mutable slots of the system prompt.</a:t>
            </a:r>
            <a:endParaRPr lang="en-US" sz="1950" dirty="0"/>
          </a:p>
        </p:txBody>
      </p:sp>
      <p:sp>
        <p:nvSpPr>
          <p:cNvPr id="22" name="Shape 20"/>
          <p:cNvSpPr/>
          <p:nvPr/>
        </p:nvSpPr>
        <p:spPr>
          <a:xfrm>
            <a:off x="1143000" y="6479084"/>
            <a:ext cx="7581900" cy="9525"/>
          </a:xfrm>
          <a:prstGeom prst="rect">
            <a:avLst/>
          </a:prstGeom>
          <a:solidFill>
            <a:srgbClr val="E8E5FF">
              <a:alpha val="30000"/>
            </a:srgbClr>
          </a:solidFill>
          <a:ln/>
        </p:spPr>
      </p:sp>
      <p:sp>
        <p:nvSpPr>
          <p:cNvPr id="23" name="Text 21"/>
          <p:cNvSpPr/>
          <p:nvPr/>
        </p:nvSpPr>
        <p:spPr>
          <a:xfrm>
            <a:off x="1143000" y="5953324"/>
            <a:ext cx="780935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E8E8ED">
                    <a:alpha val="62000"/>
                  </a:srgbClr>
                </a:solidFill>
                <a:latin typeface="Arial" pitchFamily="34" charset="0"/>
                <a:ea typeface="Arial" pitchFamily="34" charset="-122"/>
                <a:cs typeface="Arial" pitchFamily="34" charset="-120"/>
              </a:rPr>
              <a:t>WHAT IT RETAINS</a:t>
            </a:r>
            <a:endParaRPr lang="en-US" sz="1800" dirty="0"/>
          </a:p>
        </p:txBody>
      </p:sp>
      <p:sp>
        <p:nvSpPr>
          <p:cNvPr id="24" name="Text 22"/>
          <p:cNvSpPr/>
          <p:nvPr/>
        </p:nvSpPr>
        <p:spPr>
          <a:xfrm>
            <a:off x="1143000" y="6694984"/>
            <a:ext cx="7809357" cy="1474391"/>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Process rules, client preferences, why a decision went the way it did, who owns what — the reasoning and the outcome, not a summary. Also where things live: which CRM object, which field, which folder.</a:t>
            </a:r>
            <a:endParaRPr lang="en-US" sz="1950" dirty="0"/>
          </a:p>
        </p:txBody>
      </p:sp>
      <p:sp>
        <p:nvSpPr>
          <p:cNvPr id="25" name="Shape 23"/>
          <p:cNvSpPr/>
          <p:nvPr/>
        </p:nvSpPr>
        <p:spPr>
          <a:xfrm>
            <a:off x="9563100" y="6479084"/>
            <a:ext cx="7581900" cy="9525"/>
          </a:xfrm>
          <a:prstGeom prst="rect">
            <a:avLst/>
          </a:prstGeom>
          <a:solidFill>
            <a:srgbClr val="E8E5FF">
              <a:alpha val="30000"/>
            </a:srgbClr>
          </a:solidFill>
          <a:ln/>
        </p:spPr>
      </p:sp>
      <p:sp>
        <p:nvSpPr>
          <p:cNvPr id="26" name="Text 24"/>
          <p:cNvSpPr/>
          <p:nvPr/>
        </p:nvSpPr>
        <p:spPr>
          <a:xfrm>
            <a:off x="9563100" y="5953324"/>
            <a:ext cx="7809357"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E8E8ED">
                    <a:alpha val="62000"/>
                  </a:srgbClr>
                </a:solidFill>
                <a:latin typeface="Arial" pitchFamily="34" charset="0"/>
                <a:ea typeface="Arial" pitchFamily="34" charset="-122"/>
                <a:cs typeface="Arial" pitchFamily="34" charset="-120"/>
              </a:rPr>
              <a:t>WHAT IT REFUSES</a:t>
            </a:r>
            <a:endParaRPr lang="en-US" sz="1800" dirty="0"/>
          </a:p>
        </p:txBody>
      </p:sp>
      <p:sp>
        <p:nvSpPr>
          <p:cNvPr id="27" name="Text 25"/>
          <p:cNvSpPr/>
          <p:nvPr/>
        </p:nvSpPr>
        <p:spPr>
          <a:xfrm>
            <a:off x="9563100" y="6694984"/>
            <a:ext cx="7809357"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Transient status, speculation, private life, and anything said in confidence about someone not in the conversation. Contradictions are surfaced, never overwritten silently.</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125422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PERSONA</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The Back-Office Persona</a:t>
            </a:r>
            <a:endParaRPr lang="en-US" sz="4800" dirty="0"/>
          </a:p>
        </p:txBody>
      </p:sp>
      <p:sp>
        <p:nvSpPr>
          <p:cNvPr id="6" name="Text 4"/>
          <p:cNvSpPr/>
          <p:nvPr/>
        </p:nvSpPr>
        <p:spPr>
          <a:xfrm>
            <a:off x="1143000" y="2980134"/>
            <a:ext cx="11145932" cy="1546622"/>
          </a:xfrm>
          <a:prstGeom prst="rect">
            <a:avLst/>
          </a:prstGeom>
          <a:noFill/>
          <a:ln/>
        </p:spPr>
        <p:txBody>
          <a:bodyPr wrap="square" lIns="25400" tIns="25400" rIns="25400" bIns="25400" rtlCol="0" anchor="t">
            <a:normAutofit/>
          </a:bodyPr>
          <a:lstStyle/>
          <a:p>
            <a:pPr algn="l" indent="0" marL="0">
              <a:lnSpc>
                <a:spcPct val="114783"/>
              </a:lnSpc>
              <a:buNone/>
            </a:pPr>
            <a:r>
              <a:rPr lang="en-US" sz="3000" spc="-30" kern="0" dirty="0">
                <a:solidFill>
                  <a:srgbClr val="E7E5FE"/>
                </a:solidFill>
                <a:latin typeface="Arial" pitchFamily="34" charset="0"/>
                <a:ea typeface="Arial" pitchFamily="34" charset="-122"/>
                <a:cs typeface="Arial" pitchFamily="34" charset="-120"/>
              </a:rPr>
              <a:t>“Everything you know, you learned in these conversations. There is the companies CRM Notion that you can use as well.”</a:t>
            </a:r>
            <a:endParaRPr lang="en-US" sz="3000" dirty="0"/>
          </a:p>
        </p:txBody>
      </p:sp>
      <p:sp>
        <p:nvSpPr>
          <p:cNvPr id="7" name="Text 5"/>
          <p:cNvSpPr/>
          <p:nvPr/>
        </p:nvSpPr>
        <p:spPr>
          <a:xfrm>
            <a:off x="1143000" y="4717256"/>
            <a:ext cx="17602200"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9E9ED">
                    <a:alpha val="55000"/>
                  </a:srgbClr>
                </a:solidFill>
                <a:latin typeface="Arial" pitchFamily="34" charset="0"/>
                <a:ea typeface="Arial" pitchFamily="34" charset="-122"/>
                <a:cs typeface="Arial" pitchFamily="34" charset="-120"/>
              </a:rPr>
              <a:t>agents/backoffice/SOUL.md</a:t>
            </a:r>
            <a:endParaRPr lang="en-US" sz="1800" dirty="0"/>
          </a:p>
        </p:txBody>
      </p:sp>
      <p:sp>
        <p:nvSpPr>
          <p:cNvPr id="8" name="Shape 6"/>
          <p:cNvSpPr/>
          <p:nvPr/>
        </p:nvSpPr>
        <p:spPr>
          <a:xfrm>
            <a:off x="1143000" y="6283127"/>
            <a:ext cx="4927600" cy="9525"/>
          </a:xfrm>
          <a:prstGeom prst="rect">
            <a:avLst/>
          </a:prstGeom>
          <a:solidFill>
            <a:srgbClr val="E6E6EC">
              <a:alpha val="16000"/>
            </a:srgbClr>
          </a:solidFill>
          <a:ln/>
        </p:spPr>
      </p:sp>
      <p:sp>
        <p:nvSpPr>
          <p:cNvPr id="9" name="Text 7"/>
          <p:cNvSpPr/>
          <p:nvPr/>
        </p:nvSpPr>
        <p:spPr>
          <a:xfrm>
            <a:off x="1143000" y="5757367"/>
            <a:ext cx="507542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HOW IT ANSWERS</a:t>
            </a:r>
            <a:endParaRPr lang="en-US" sz="1800" dirty="0"/>
          </a:p>
        </p:txBody>
      </p:sp>
      <p:sp>
        <p:nvSpPr>
          <p:cNvPr id="10" name="Text 8"/>
          <p:cNvSpPr/>
          <p:nvPr/>
        </p:nvSpPr>
        <p:spPr>
          <a:xfrm>
            <a:off x="1143000" y="6499027"/>
            <a:ext cx="5075428"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Answer first, two or three sentences, no hedging. Context only when it changes the answer.</a:t>
            </a:r>
            <a:endParaRPr lang="en-US" sz="1950" dirty="0"/>
          </a:p>
        </p:txBody>
      </p:sp>
      <p:sp>
        <p:nvSpPr>
          <p:cNvPr id="11" name="Shape 9"/>
          <p:cNvSpPr/>
          <p:nvPr/>
        </p:nvSpPr>
        <p:spPr>
          <a:xfrm>
            <a:off x="6680200" y="6283127"/>
            <a:ext cx="4927600" cy="9525"/>
          </a:xfrm>
          <a:prstGeom prst="rect">
            <a:avLst/>
          </a:prstGeom>
          <a:solidFill>
            <a:srgbClr val="E6E6EC">
              <a:alpha val="16000"/>
            </a:srgbClr>
          </a:solidFill>
          <a:ln/>
        </p:spPr>
      </p:sp>
      <p:sp>
        <p:nvSpPr>
          <p:cNvPr id="12" name="Text 10"/>
          <p:cNvSpPr/>
          <p:nvPr/>
        </p:nvSpPr>
        <p:spPr>
          <a:xfrm>
            <a:off x="6680200" y="5757367"/>
            <a:ext cx="507542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HOW IT CITES</a:t>
            </a:r>
            <a:endParaRPr lang="en-US" sz="1800" dirty="0"/>
          </a:p>
        </p:txBody>
      </p:sp>
      <p:sp>
        <p:nvSpPr>
          <p:cNvPr id="13" name="Text 11"/>
          <p:cNvSpPr/>
          <p:nvPr/>
        </p:nvSpPr>
        <p:spPr>
          <a:xfrm>
            <a:off x="6680200" y="6499027"/>
            <a:ext cx="5075428"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Every recollection is attributed to a person and roughly a date. Recalling is stated as recalling.</a:t>
            </a:r>
            <a:endParaRPr lang="en-US" sz="1950" dirty="0"/>
          </a:p>
        </p:txBody>
      </p:sp>
      <p:sp>
        <p:nvSpPr>
          <p:cNvPr id="14" name="Shape 12"/>
          <p:cNvSpPr/>
          <p:nvPr/>
        </p:nvSpPr>
        <p:spPr>
          <a:xfrm>
            <a:off x="12217401" y="6283127"/>
            <a:ext cx="4927600" cy="9525"/>
          </a:xfrm>
          <a:prstGeom prst="rect">
            <a:avLst/>
          </a:prstGeom>
          <a:solidFill>
            <a:srgbClr val="E6E6EC">
              <a:alpha val="16000"/>
            </a:srgbClr>
          </a:solidFill>
          <a:ln/>
        </p:spPr>
      </p:sp>
      <p:sp>
        <p:nvSpPr>
          <p:cNvPr id="15" name="Text 13"/>
          <p:cNvSpPr/>
          <p:nvPr/>
        </p:nvSpPr>
        <p:spPr>
          <a:xfrm>
            <a:off x="12217401" y="5757367"/>
            <a:ext cx="507542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WHERE IT STOPS</a:t>
            </a:r>
            <a:endParaRPr lang="en-US" sz="1800" dirty="0"/>
          </a:p>
        </p:txBody>
      </p:sp>
      <p:sp>
        <p:nvSpPr>
          <p:cNvPr id="16" name="Text 14"/>
          <p:cNvSpPr/>
          <p:nvPr/>
        </p:nvSpPr>
        <p:spPr>
          <a:xfrm>
            <a:off x="12217401" y="6499027"/>
            <a:ext cx="5075428" cy="1474391"/>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No inference, no estimates, no writes to the CRM, no acting on anyone's behalf. Beyond answering and remembering, it escalates.</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227787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CONFIGURATION</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Persona and Configuration as Code</a:t>
            </a:r>
            <a:endParaRPr lang="en-US" sz="4800" dirty="0"/>
          </a:p>
        </p:txBody>
      </p:sp>
      <p:sp>
        <p:nvSpPr>
          <p:cNvPr id="6" name="Text 4"/>
          <p:cNvSpPr/>
          <p:nvPr/>
        </p:nvSpPr>
        <p:spPr>
          <a:xfrm>
            <a:off x="1143000" y="2675334"/>
            <a:ext cx="10298835" cy="89138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8E8ED">
                    <a:alpha val="80000"/>
                  </a:srgbClr>
                </a:solidFill>
                <a:latin typeface="Arial" pitchFamily="34" charset="0"/>
                <a:ea typeface="Arial" pitchFamily="34" charset="-122"/>
                <a:cs typeface="Arial" pitchFamily="34" charset="-120"/>
              </a:rPr>
              <a:t>A profile is a separate agent home. Three files come from git; the rest belongs to the agent.</a:t>
            </a:r>
            <a:endParaRPr lang="en-US" sz="2400" dirty="0"/>
          </a:p>
        </p:txBody>
      </p:sp>
      <p:sp>
        <p:nvSpPr>
          <p:cNvPr id="7" name="Shape 5"/>
          <p:cNvSpPr/>
          <p:nvPr/>
        </p:nvSpPr>
        <p:spPr>
          <a:xfrm>
            <a:off x="1143000" y="4423569"/>
            <a:ext cx="5440660" cy="9525"/>
          </a:xfrm>
          <a:prstGeom prst="rect">
            <a:avLst/>
          </a:prstGeom>
          <a:solidFill>
            <a:srgbClr val="E6E6EC">
              <a:alpha val="16000"/>
            </a:srgbClr>
          </a:solidFill>
          <a:ln/>
        </p:spPr>
      </p:sp>
      <p:sp>
        <p:nvSpPr>
          <p:cNvPr id="8" name="Text 6"/>
          <p:cNvSpPr/>
          <p:nvPr/>
        </p:nvSpPr>
        <p:spPr>
          <a:xfrm>
            <a:off x="1143000" y="3852466"/>
            <a:ext cx="5299080" cy="418703"/>
          </a:xfrm>
          <a:prstGeom prst="rect">
            <a:avLst/>
          </a:prstGeom>
          <a:noFill/>
          <a:ln/>
        </p:spPr>
        <p:txBody>
          <a:bodyPr wrap="square" lIns="25400" tIns="25400" rIns="25400" bIns="25400" rtlCol="0" anchor="ctr">
            <a:normAutofit/>
          </a:bodyPr>
          <a:lstStyle/>
          <a:p>
            <a:pPr algn="l" indent="0" marL="0">
              <a:lnSpc>
                <a:spcPct val="137386"/>
              </a:lnSpc>
              <a:buNone/>
            </a:pPr>
            <a:r>
              <a:rPr lang="en-US" sz="1950" spc="98" kern="0" dirty="0">
                <a:solidFill>
                  <a:srgbClr val="E9E9ED">
                    <a:alpha val="55000"/>
                  </a:srgbClr>
                </a:solidFill>
                <a:latin typeface="Arial" pitchFamily="34" charset="0"/>
                <a:ea typeface="Arial" pitchFamily="34" charset="-122"/>
                <a:cs typeface="Arial" pitchFamily="34" charset="-120"/>
              </a:rPr>
              <a:t>PATH IN THE PROFILE HOME</a:t>
            </a:r>
            <a:endParaRPr lang="en-US" sz="1950" dirty="0"/>
          </a:p>
        </p:txBody>
      </p:sp>
      <p:sp>
        <p:nvSpPr>
          <p:cNvPr id="9" name="Shape 7"/>
          <p:cNvSpPr/>
          <p:nvPr/>
        </p:nvSpPr>
        <p:spPr>
          <a:xfrm>
            <a:off x="6583660" y="4423569"/>
            <a:ext cx="4800600" cy="9525"/>
          </a:xfrm>
          <a:prstGeom prst="rect">
            <a:avLst/>
          </a:prstGeom>
          <a:solidFill>
            <a:srgbClr val="E6E6EC">
              <a:alpha val="16000"/>
            </a:srgbClr>
          </a:solidFill>
          <a:ln/>
        </p:spPr>
      </p:sp>
      <p:sp>
        <p:nvSpPr>
          <p:cNvPr id="10" name="Text 8"/>
          <p:cNvSpPr/>
          <p:nvPr/>
        </p:nvSpPr>
        <p:spPr>
          <a:xfrm>
            <a:off x="6583660" y="3852466"/>
            <a:ext cx="4639818" cy="418703"/>
          </a:xfrm>
          <a:prstGeom prst="rect">
            <a:avLst/>
          </a:prstGeom>
          <a:noFill/>
          <a:ln/>
        </p:spPr>
        <p:txBody>
          <a:bodyPr wrap="square" lIns="25400" tIns="25400" rIns="25400" bIns="25400" rtlCol="0" anchor="ctr">
            <a:normAutofit/>
          </a:bodyPr>
          <a:lstStyle/>
          <a:p>
            <a:pPr algn="l" indent="0" marL="0">
              <a:lnSpc>
                <a:spcPct val="137386"/>
              </a:lnSpc>
              <a:buNone/>
            </a:pPr>
            <a:r>
              <a:rPr lang="en-US" sz="1950" spc="98" kern="0" dirty="0">
                <a:solidFill>
                  <a:srgbClr val="E9E9ED">
                    <a:alpha val="55000"/>
                  </a:srgbClr>
                </a:solidFill>
                <a:latin typeface="Arial" pitchFamily="34" charset="0"/>
                <a:ea typeface="Arial" pitchFamily="34" charset="-122"/>
                <a:cs typeface="Arial" pitchFamily="34" charset="-120"/>
              </a:rPr>
              <a:t>SOURCE</a:t>
            </a:r>
            <a:endParaRPr lang="en-US" sz="1950" dirty="0"/>
          </a:p>
        </p:txBody>
      </p:sp>
      <p:sp>
        <p:nvSpPr>
          <p:cNvPr id="11" name="Shape 9"/>
          <p:cNvSpPr/>
          <p:nvPr/>
        </p:nvSpPr>
        <p:spPr>
          <a:xfrm>
            <a:off x="11384261" y="4423569"/>
            <a:ext cx="5760740" cy="9525"/>
          </a:xfrm>
          <a:prstGeom prst="rect">
            <a:avLst/>
          </a:prstGeom>
          <a:solidFill>
            <a:srgbClr val="E6E6EC">
              <a:alpha val="16000"/>
            </a:srgbClr>
          </a:solidFill>
          <a:ln/>
        </p:spPr>
      </p:sp>
      <p:sp>
        <p:nvSpPr>
          <p:cNvPr id="12" name="Text 10"/>
          <p:cNvSpPr/>
          <p:nvPr/>
        </p:nvSpPr>
        <p:spPr>
          <a:xfrm>
            <a:off x="11384261" y="3852466"/>
            <a:ext cx="5933562" cy="418703"/>
          </a:xfrm>
          <a:prstGeom prst="rect">
            <a:avLst/>
          </a:prstGeom>
          <a:noFill/>
          <a:ln/>
        </p:spPr>
        <p:txBody>
          <a:bodyPr wrap="square" lIns="25400" tIns="25400" rIns="25400" bIns="25400" rtlCol="0" anchor="ctr">
            <a:normAutofit/>
          </a:bodyPr>
          <a:lstStyle/>
          <a:p>
            <a:pPr algn="l" indent="0" marL="0">
              <a:lnSpc>
                <a:spcPct val="137386"/>
              </a:lnSpc>
              <a:buNone/>
            </a:pPr>
            <a:r>
              <a:rPr lang="en-US" sz="1950" spc="98" kern="0" dirty="0">
                <a:solidFill>
                  <a:srgbClr val="E9E9ED">
                    <a:alpha val="55000"/>
                  </a:srgbClr>
                </a:solidFill>
                <a:latin typeface="Arial" pitchFamily="34" charset="0"/>
                <a:ea typeface="Arial" pitchFamily="34" charset="-122"/>
                <a:cs typeface="Arial" pitchFamily="34" charset="-120"/>
              </a:rPr>
              <a:t>AGENT MAY WRITE</a:t>
            </a:r>
            <a:endParaRPr lang="en-US" sz="1950" dirty="0"/>
          </a:p>
        </p:txBody>
      </p:sp>
      <p:sp>
        <p:nvSpPr>
          <p:cNvPr id="13" name="Shape 11"/>
          <p:cNvSpPr/>
          <p:nvPr/>
        </p:nvSpPr>
        <p:spPr>
          <a:xfrm>
            <a:off x="1143000" y="5137547"/>
            <a:ext cx="5440660" cy="9525"/>
          </a:xfrm>
          <a:prstGeom prst="rect">
            <a:avLst/>
          </a:prstGeom>
          <a:solidFill>
            <a:srgbClr val="E6E6EC">
              <a:alpha val="16000"/>
            </a:srgbClr>
          </a:solidFill>
          <a:ln/>
        </p:spPr>
      </p:sp>
      <p:sp>
        <p:nvSpPr>
          <p:cNvPr id="14" name="Text 12"/>
          <p:cNvSpPr/>
          <p:nvPr/>
        </p:nvSpPr>
        <p:spPr>
          <a:xfrm>
            <a:off x="1143000" y="4591844"/>
            <a:ext cx="529908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SOUL.md</a:t>
            </a:r>
            <a:endParaRPr lang="en-US" sz="1950" dirty="0"/>
          </a:p>
        </p:txBody>
      </p:sp>
      <p:sp>
        <p:nvSpPr>
          <p:cNvPr id="15" name="Shape 13"/>
          <p:cNvSpPr/>
          <p:nvPr/>
        </p:nvSpPr>
        <p:spPr>
          <a:xfrm>
            <a:off x="6583660" y="5137547"/>
            <a:ext cx="4800600" cy="9525"/>
          </a:xfrm>
          <a:prstGeom prst="rect">
            <a:avLst/>
          </a:prstGeom>
          <a:solidFill>
            <a:srgbClr val="E6E6EC">
              <a:alpha val="16000"/>
            </a:srgbClr>
          </a:solidFill>
          <a:ln/>
        </p:spPr>
      </p:sp>
      <p:sp>
        <p:nvSpPr>
          <p:cNvPr id="16" name="Text 14"/>
          <p:cNvSpPr/>
          <p:nvPr/>
        </p:nvSpPr>
        <p:spPr>
          <a:xfrm>
            <a:off x="6583660" y="4591844"/>
            <a:ext cx="4639818"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Git, mounted read-only</a:t>
            </a:r>
            <a:endParaRPr lang="en-US" sz="1950" dirty="0"/>
          </a:p>
        </p:txBody>
      </p:sp>
      <p:sp>
        <p:nvSpPr>
          <p:cNvPr id="17" name="Shape 15"/>
          <p:cNvSpPr/>
          <p:nvPr/>
        </p:nvSpPr>
        <p:spPr>
          <a:xfrm>
            <a:off x="11384261" y="5137547"/>
            <a:ext cx="5760740" cy="9525"/>
          </a:xfrm>
          <a:prstGeom prst="rect">
            <a:avLst/>
          </a:prstGeom>
          <a:solidFill>
            <a:srgbClr val="E6E6EC">
              <a:alpha val="16000"/>
            </a:srgbClr>
          </a:solidFill>
          <a:ln/>
        </p:spPr>
      </p:sp>
      <p:sp>
        <p:nvSpPr>
          <p:cNvPr id="18" name="Text 16"/>
          <p:cNvSpPr/>
          <p:nvPr/>
        </p:nvSpPr>
        <p:spPr>
          <a:xfrm>
            <a:off x="11384261" y="4591844"/>
            <a:ext cx="5933562"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No — by design</a:t>
            </a:r>
            <a:endParaRPr lang="en-US" sz="1950" dirty="0"/>
          </a:p>
        </p:txBody>
      </p:sp>
      <p:sp>
        <p:nvSpPr>
          <p:cNvPr id="19" name="Shape 17"/>
          <p:cNvSpPr/>
          <p:nvPr/>
        </p:nvSpPr>
        <p:spPr>
          <a:xfrm>
            <a:off x="1143000" y="5851525"/>
            <a:ext cx="5440660" cy="9525"/>
          </a:xfrm>
          <a:prstGeom prst="rect">
            <a:avLst/>
          </a:prstGeom>
          <a:solidFill>
            <a:srgbClr val="E6E6EC">
              <a:alpha val="16000"/>
            </a:srgbClr>
          </a:solidFill>
          <a:ln/>
        </p:spPr>
      </p:sp>
      <p:sp>
        <p:nvSpPr>
          <p:cNvPr id="20" name="Text 18"/>
          <p:cNvSpPr/>
          <p:nvPr/>
        </p:nvSpPr>
        <p:spPr>
          <a:xfrm>
            <a:off x="1143000" y="5305822"/>
            <a:ext cx="529908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config.yaml</a:t>
            </a:r>
            <a:endParaRPr lang="en-US" sz="1950" dirty="0"/>
          </a:p>
        </p:txBody>
      </p:sp>
      <p:sp>
        <p:nvSpPr>
          <p:cNvPr id="21" name="Shape 19"/>
          <p:cNvSpPr/>
          <p:nvPr/>
        </p:nvSpPr>
        <p:spPr>
          <a:xfrm>
            <a:off x="6583660" y="5851525"/>
            <a:ext cx="4800600" cy="9525"/>
          </a:xfrm>
          <a:prstGeom prst="rect">
            <a:avLst/>
          </a:prstGeom>
          <a:solidFill>
            <a:srgbClr val="E6E6EC">
              <a:alpha val="16000"/>
            </a:srgbClr>
          </a:solidFill>
          <a:ln/>
        </p:spPr>
      </p:sp>
      <p:sp>
        <p:nvSpPr>
          <p:cNvPr id="22" name="Text 20"/>
          <p:cNvSpPr/>
          <p:nvPr/>
        </p:nvSpPr>
        <p:spPr>
          <a:xfrm>
            <a:off x="6583660" y="5305822"/>
            <a:ext cx="4639818"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Git, mounted read-only</a:t>
            </a:r>
            <a:endParaRPr lang="en-US" sz="1950" dirty="0"/>
          </a:p>
        </p:txBody>
      </p:sp>
      <p:sp>
        <p:nvSpPr>
          <p:cNvPr id="23" name="Shape 21"/>
          <p:cNvSpPr/>
          <p:nvPr/>
        </p:nvSpPr>
        <p:spPr>
          <a:xfrm>
            <a:off x="11384261" y="5851525"/>
            <a:ext cx="5760740" cy="9525"/>
          </a:xfrm>
          <a:prstGeom prst="rect">
            <a:avLst/>
          </a:prstGeom>
          <a:solidFill>
            <a:srgbClr val="E6E6EC">
              <a:alpha val="16000"/>
            </a:srgbClr>
          </a:solidFill>
          <a:ln/>
        </p:spPr>
      </p:sp>
      <p:sp>
        <p:nvSpPr>
          <p:cNvPr id="24" name="Text 22"/>
          <p:cNvSpPr/>
          <p:nvPr/>
        </p:nvSpPr>
        <p:spPr>
          <a:xfrm>
            <a:off x="11384261" y="5305822"/>
            <a:ext cx="5933562"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No — the file in git wins</a:t>
            </a:r>
            <a:endParaRPr lang="en-US" sz="1950" dirty="0"/>
          </a:p>
        </p:txBody>
      </p:sp>
      <p:sp>
        <p:nvSpPr>
          <p:cNvPr id="25" name="Shape 23"/>
          <p:cNvSpPr/>
          <p:nvPr/>
        </p:nvSpPr>
        <p:spPr>
          <a:xfrm>
            <a:off x="1143000" y="6565503"/>
            <a:ext cx="5440660" cy="9525"/>
          </a:xfrm>
          <a:prstGeom prst="rect">
            <a:avLst/>
          </a:prstGeom>
          <a:solidFill>
            <a:srgbClr val="E6E6EC">
              <a:alpha val="16000"/>
            </a:srgbClr>
          </a:solidFill>
          <a:ln/>
        </p:spPr>
      </p:sp>
      <p:sp>
        <p:nvSpPr>
          <p:cNvPr id="26" name="Text 24"/>
          <p:cNvSpPr/>
          <p:nvPr/>
        </p:nvSpPr>
        <p:spPr>
          <a:xfrm>
            <a:off x="1143000" y="6019800"/>
            <a:ext cx="529908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.env</a:t>
            </a:r>
            <a:endParaRPr lang="en-US" sz="1950" dirty="0"/>
          </a:p>
        </p:txBody>
      </p:sp>
      <p:sp>
        <p:nvSpPr>
          <p:cNvPr id="27" name="Shape 25"/>
          <p:cNvSpPr/>
          <p:nvPr/>
        </p:nvSpPr>
        <p:spPr>
          <a:xfrm>
            <a:off x="6583660" y="6565503"/>
            <a:ext cx="4800600" cy="9525"/>
          </a:xfrm>
          <a:prstGeom prst="rect">
            <a:avLst/>
          </a:prstGeom>
          <a:solidFill>
            <a:srgbClr val="E6E6EC">
              <a:alpha val="16000"/>
            </a:srgbClr>
          </a:solidFill>
          <a:ln/>
        </p:spPr>
      </p:sp>
      <p:sp>
        <p:nvSpPr>
          <p:cNvPr id="28" name="Text 26"/>
          <p:cNvSpPr/>
          <p:nvPr/>
        </p:nvSpPr>
        <p:spPr>
          <a:xfrm>
            <a:off x="6583660" y="6019800"/>
            <a:ext cx="4639818"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Local, gitignored, read-only</a:t>
            </a:r>
            <a:endParaRPr lang="en-US" sz="1950" dirty="0"/>
          </a:p>
        </p:txBody>
      </p:sp>
      <p:sp>
        <p:nvSpPr>
          <p:cNvPr id="29" name="Shape 27"/>
          <p:cNvSpPr/>
          <p:nvPr/>
        </p:nvSpPr>
        <p:spPr>
          <a:xfrm>
            <a:off x="11384261" y="6565503"/>
            <a:ext cx="5760740" cy="9525"/>
          </a:xfrm>
          <a:prstGeom prst="rect">
            <a:avLst/>
          </a:prstGeom>
          <a:solidFill>
            <a:srgbClr val="E6E6EC">
              <a:alpha val="16000"/>
            </a:srgbClr>
          </a:solidFill>
          <a:ln/>
        </p:spPr>
      </p:sp>
      <p:sp>
        <p:nvSpPr>
          <p:cNvPr id="30" name="Text 28"/>
          <p:cNvSpPr/>
          <p:nvPr/>
        </p:nvSpPr>
        <p:spPr>
          <a:xfrm>
            <a:off x="11384261" y="6019800"/>
            <a:ext cx="5933562"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alpha val="72000"/>
                  </a:srgbClr>
                </a:solidFill>
                <a:latin typeface="Arial" pitchFamily="34" charset="0"/>
                <a:ea typeface="Arial" pitchFamily="34" charset="-122"/>
                <a:cs typeface="Arial" pitchFamily="34" charset="-120"/>
              </a:rPr>
              <a:t>No</a:t>
            </a:r>
            <a:endParaRPr lang="en-US" sz="1950" dirty="0"/>
          </a:p>
        </p:txBody>
      </p:sp>
      <p:sp>
        <p:nvSpPr>
          <p:cNvPr id="31" name="Shape 29"/>
          <p:cNvSpPr/>
          <p:nvPr/>
        </p:nvSpPr>
        <p:spPr>
          <a:xfrm>
            <a:off x="1143000" y="7279482"/>
            <a:ext cx="5440660" cy="9525"/>
          </a:xfrm>
          <a:prstGeom prst="rect">
            <a:avLst/>
          </a:prstGeom>
          <a:solidFill>
            <a:srgbClr val="E6E6EC">
              <a:alpha val="16000"/>
            </a:srgbClr>
          </a:solidFill>
          <a:ln/>
        </p:spPr>
      </p:sp>
      <p:sp>
        <p:nvSpPr>
          <p:cNvPr id="32" name="Text 30"/>
          <p:cNvSpPr/>
          <p:nvPr/>
        </p:nvSpPr>
        <p:spPr>
          <a:xfrm>
            <a:off x="1143000" y="6733779"/>
            <a:ext cx="529908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memories/</a:t>
            </a:r>
            <a:endParaRPr lang="en-US" sz="1950" dirty="0"/>
          </a:p>
        </p:txBody>
      </p:sp>
      <p:sp>
        <p:nvSpPr>
          <p:cNvPr id="33" name="Shape 31"/>
          <p:cNvSpPr/>
          <p:nvPr/>
        </p:nvSpPr>
        <p:spPr>
          <a:xfrm>
            <a:off x="6583660" y="7279482"/>
            <a:ext cx="4800600" cy="9525"/>
          </a:xfrm>
          <a:prstGeom prst="rect">
            <a:avLst/>
          </a:prstGeom>
          <a:solidFill>
            <a:srgbClr val="E6E6EC">
              <a:alpha val="16000"/>
            </a:srgbClr>
          </a:solidFill>
          <a:ln/>
        </p:spPr>
      </p:sp>
      <p:sp>
        <p:nvSpPr>
          <p:cNvPr id="34" name="Text 32"/>
          <p:cNvSpPr/>
          <p:nvPr/>
        </p:nvSpPr>
        <p:spPr>
          <a:xfrm>
            <a:off x="6583660" y="6733779"/>
            <a:ext cx="4639818"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The volume</a:t>
            </a:r>
            <a:endParaRPr lang="en-US" sz="1950" dirty="0"/>
          </a:p>
        </p:txBody>
      </p:sp>
      <p:sp>
        <p:nvSpPr>
          <p:cNvPr id="35" name="Shape 33"/>
          <p:cNvSpPr/>
          <p:nvPr/>
        </p:nvSpPr>
        <p:spPr>
          <a:xfrm>
            <a:off x="11384261" y="7279482"/>
            <a:ext cx="5760740" cy="9525"/>
          </a:xfrm>
          <a:prstGeom prst="rect">
            <a:avLst/>
          </a:prstGeom>
          <a:solidFill>
            <a:srgbClr val="E6E6EC">
              <a:alpha val="16000"/>
            </a:srgbClr>
          </a:solidFill>
          <a:ln/>
        </p:spPr>
      </p:sp>
      <p:sp>
        <p:nvSpPr>
          <p:cNvPr id="36" name="Text 34"/>
          <p:cNvSpPr/>
          <p:nvPr/>
        </p:nvSpPr>
        <p:spPr>
          <a:xfrm>
            <a:off x="11384261" y="6733779"/>
            <a:ext cx="5933562"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Yes</a:t>
            </a:r>
            <a:endParaRPr lang="en-US" sz="1950" dirty="0"/>
          </a:p>
        </p:txBody>
      </p:sp>
      <p:sp>
        <p:nvSpPr>
          <p:cNvPr id="37" name="Shape 35"/>
          <p:cNvSpPr/>
          <p:nvPr/>
        </p:nvSpPr>
        <p:spPr>
          <a:xfrm>
            <a:off x="1143000" y="7993460"/>
            <a:ext cx="5440660" cy="9525"/>
          </a:xfrm>
          <a:prstGeom prst="rect">
            <a:avLst/>
          </a:prstGeom>
          <a:solidFill>
            <a:srgbClr val="E6E6EC">
              <a:alpha val="16000"/>
            </a:srgbClr>
          </a:solidFill>
          <a:ln/>
        </p:spPr>
      </p:sp>
      <p:sp>
        <p:nvSpPr>
          <p:cNvPr id="38" name="Text 36"/>
          <p:cNvSpPr/>
          <p:nvPr/>
        </p:nvSpPr>
        <p:spPr>
          <a:xfrm>
            <a:off x="1143000" y="7447756"/>
            <a:ext cx="5299080"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skills/</a:t>
            </a:r>
            <a:endParaRPr lang="en-US" sz="1950" dirty="0"/>
          </a:p>
        </p:txBody>
      </p:sp>
      <p:sp>
        <p:nvSpPr>
          <p:cNvPr id="39" name="Shape 37"/>
          <p:cNvSpPr/>
          <p:nvPr/>
        </p:nvSpPr>
        <p:spPr>
          <a:xfrm>
            <a:off x="6583660" y="7993460"/>
            <a:ext cx="4800600" cy="9525"/>
          </a:xfrm>
          <a:prstGeom prst="rect">
            <a:avLst/>
          </a:prstGeom>
          <a:solidFill>
            <a:srgbClr val="E6E6EC">
              <a:alpha val="16000"/>
            </a:srgbClr>
          </a:solidFill>
          <a:ln/>
        </p:spPr>
      </p:sp>
      <p:sp>
        <p:nvSpPr>
          <p:cNvPr id="40" name="Text 38"/>
          <p:cNvSpPr/>
          <p:nvPr/>
        </p:nvSpPr>
        <p:spPr>
          <a:xfrm>
            <a:off x="6583660" y="7447756"/>
            <a:ext cx="4639818"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The volume</a:t>
            </a:r>
            <a:endParaRPr lang="en-US" sz="1950" dirty="0"/>
          </a:p>
        </p:txBody>
      </p:sp>
      <p:sp>
        <p:nvSpPr>
          <p:cNvPr id="41" name="Shape 39"/>
          <p:cNvSpPr/>
          <p:nvPr/>
        </p:nvSpPr>
        <p:spPr>
          <a:xfrm>
            <a:off x="11384261" y="7993460"/>
            <a:ext cx="5760740" cy="9525"/>
          </a:xfrm>
          <a:prstGeom prst="rect">
            <a:avLst/>
          </a:prstGeom>
          <a:solidFill>
            <a:srgbClr val="E6E6EC">
              <a:alpha val="16000"/>
            </a:srgbClr>
          </a:solidFill>
          <a:ln/>
        </p:spPr>
      </p:sp>
      <p:sp>
        <p:nvSpPr>
          <p:cNvPr id="42" name="Text 40"/>
          <p:cNvSpPr/>
          <p:nvPr/>
        </p:nvSpPr>
        <p:spPr>
          <a:xfrm>
            <a:off x="11384261" y="7447756"/>
            <a:ext cx="5933562" cy="421878"/>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Yes — learned skills land for review</a:t>
            </a:r>
            <a:endParaRPr lang="en-US" sz="1950" dirty="0"/>
          </a:p>
        </p:txBody>
      </p:sp>
      <p:sp>
        <p:nvSpPr>
          <p:cNvPr id="43" name="Text 41"/>
          <p:cNvSpPr/>
          <p:nvPr/>
        </p:nvSpPr>
        <p:spPr>
          <a:xfrm>
            <a:off x="1143000" y="8161734"/>
            <a:ext cx="5299080" cy="425053"/>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D2CEFD"/>
                </a:solidFill>
                <a:latin typeface="Arial" pitchFamily="34" charset="0"/>
                <a:ea typeface="Arial" pitchFamily="34" charset="-122"/>
                <a:cs typeface="Arial" pitchFamily="34" charset="-120"/>
              </a:rPr>
              <a:t>sessions/, cron/, logs/</a:t>
            </a:r>
            <a:endParaRPr lang="en-US" sz="1950" dirty="0"/>
          </a:p>
        </p:txBody>
      </p:sp>
      <p:sp>
        <p:nvSpPr>
          <p:cNvPr id="44" name="Text 42"/>
          <p:cNvSpPr/>
          <p:nvPr/>
        </p:nvSpPr>
        <p:spPr>
          <a:xfrm>
            <a:off x="6583660" y="8161734"/>
            <a:ext cx="4639818" cy="425053"/>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9E9ED"/>
                </a:solidFill>
                <a:latin typeface="Arial" pitchFamily="34" charset="0"/>
                <a:ea typeface="Arial" pitchFamily="34" charset="-122"/>
                <a:cs typeface="Arial" pitchFamily="34" charset="-120"/>
              </a:rPr>
              <a:t>The volume</a:t>
            </a:r>
            <a:endParaRPr lang="en-US" sz="1950" dirty="0"/>
          </a:p>
        </p:txBody>
      </p:sp>
      <p:sp>
        <p:nvSpPr>
          <p:cNvPr id="45" name="Text 43"/>
          <p:cNvSpPr/>
          <p:nvPr/>
        </p:nvSpPr>
        <p:spPr>
          <a:xfrm>
            <a:off x="11384261" y="8161734"/>
            <a:ext cx="5933562" cy="425053"/>
          </a:xfrm>
          <a:prstGeom prst="rect">
            <a:avLst/>
          </a:prstGeom>
          <a:noFill/>
          <a:ln/>
        </p:spPr>
        <p:txBody>
          <a:bodyPr wrap="square" lIns="25400" tIns="25400" rIns="25400" bIns="25400" rtlCol="0" anchor="ctr">
            <a:normAutofit/>
          </a:bodyPr>
          <a:lstStyle/>
          <a:p>
            <a:pPr algn="l" indent="0" marL="0">
              <a:lnSpc>
                <a:spcPct val="137386"/>
              </a:lnSpc>
              <a:buNone/>
            </a:pPr>
            <a:r>
              <a:rPr lang="en-US" sz="1950" dirty="0">
                <a:solidFill>
                  <a:srgbClr val="E7E5FE"/>
                </a:solidFill>
                <a:latin typeface="Arial" pitchFamily="34" charset="0"/>
                <a:ea typeface="Arial" pitchFamily="34" charset="-122"/>
                <a:cs typeface="Arial" pitchFamily="34" charset="-120"/>
              </a:rPr>
              <a:t>Yes</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1371352"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SECURITY</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Guardrails in Place Today</a:t>
            </a:r>
            <a:endParaRPr lang="en-US" sz="4800" dirty="0"/>
          </a:p>
        </p:txBody>
      </p:sp>
      <p:sp>
        <p:nvSpPr>
          <p:cNvPr id="6" name="Shape 4"/>
          <p:cNvSpPr/>
          <p:nvPr/>
        </p:nvSpPr>
        <p:spPr>
          <a:xfrm>
            <a:off x="1143000" y="4971752"/>
            <a:ext cx="16002000" cy="9525"/>
          </a:xfrm>
          <a:prstGeom prst="rect">
            <a:avLst/>
          </a:prstGeom>
          <a:solidFill>
            <a:srgbClr val="E6E6EC">
              <a:alpha val="16000"/>
            </a:srgbClr>
          </a:solidFill>
          <a:ln/>
        </p:spPr>
      </p:sp>
      <p:sp>
        <p:nvSpPr>
          <p:cNvPr id="7" name="Text 5"/>
          <p:cNvSpPr/>
          <p:nvPr/>
        </p:nvSpPr>
        <p:spPr>
          <a:xfrm>
            <a:off x="1143000" y="2980134"/>
            <a:ext cx="914400" cy="62865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9184D9"/>
                </a:solidFill>
                <a:latin typeface="Arial" pitchFamily="34" charset="0"/>
                <a:ea typeface="Arial" pitchFamily="34" charset="-122"/>
                <a:cs typeface="Arial" pitchFamily="34" charset="-120"/>
              </a:rPr>
              <a:t>01</a:t>
            </a:r>
            <a:endParaRPr lang="en-US" sz="3000" dirty="0"/>
          </a:p>
        </p:txBody>
      </p:sp>
      <p:sp>
        <p:nvSpPr>
          <p:cNvPr id="8" name="Text 6"/>
          <p:cNvSpPr/>
          <p:nvPr/>
        </p:nvSpPr>
        <p:spPr>
          <a:xfrm>
            <a:off x="2362200" y="2980134"/>
            <a:ext cx="16261080" cy="47625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E9E9ED"/>
                </a:solidFill>
                <a:latin typeface="Arial" pitchFamily="34" charset="0"/>
                <a:ea typeface="Arial" pitchFamily="34" charset="-122"/>
                <a:cs typeface="Arial" pitchFamily="34" charset="-120"/>
              </a:rPr>
              <a:t>Tool exposure is scoped per surface</a:t>
            </a:r>
            <a:endParaRPr lang="en-US" sz="3000" dirty="0"/>
          </a:p>
        </p:txBody>
      </p:sp>
      <p:sp>
        <p:nvSpPr>
          <p:cNvPr id="9" name="Text 7"/>
          <p:cNvSpPr/>
          <p:nvPr/>
        </p:nvSpPr>
        <p:spPr>
          <a:xfrm>
            <a:off x="2362200" y="3570684"/>
            <a:ext cx="12229816"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alpha val="82000"/>
                  </a:srgbClr>
                </a:solidFill>
                <a:latin typeface="Arial" pitchFamily="34" charset="0"/>
                <a:ea typeface="Arial" pitchFamily="34" charset="-122"/>
                <a:cs typeface="Arial" pitchFamily="34" charset="-120"/>
              </a:rPr>
              <a:t>Slack is cut to a handful of toolsets — clarify, memory, session search, skills, todo — while the dashboard keeps the full set. No shell, files, code execution, browsing or delegation on the shared channel.</a:t>
            </a:r>
            <a:endParaRPr lang="en-US" sz="1950" dirty="0"/>
          </a:p>
        </p:txBody>
      </p:sp>
      <p:sp>
        <p:nvSpPr>
          <p:cNvPr id="10" name="Shape 8"/>
          <p:cNvSpPr/>
          <p:nvPr/>
        </p:nvSpPr>
        <p:spPr>
          <a:xfrm>
            <a:off x="1143000" y="7293571"/>
            <a:ext cx="16002000" cy="9525"/>
          </a:xfrm>
          <a:prstGeom prst="rect">
            <a:avLst/>
          </a:prstGeom>
          <a:solidFill>
            <a:srgbClr val="E6E6EC">
              <a:alpha val="16000"/>
            </a:srgbClr>
          </a:solidFill>
          <a:ln/>
        </p:spPr>
      </p:sp>
      <p:sp>
        <p:nvSpPr>
          <p:cNvPr id="11" name="Text 9"/>
          <p:cNvSpPr/>
          <p:nvPr/>
        </p:nvSpPr>
        <p:spPr>
          <a:xfrm>
            <a:off x="1143000" y="5301953"/>
            <a:ext cx="914400" cy="62865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9184D9"/>
                </a:solidFill>
                <a:latin typeface="Arial" pitchFamily="34" charset="0"/>
                <a:ea typeface="Arial" pitchFamily="34" charset="-122"/>
                <a:cs typeface="Arial" pitchFamily="34" charset="-120"/>
              </a:rPr>
              <a:t>02</a:t>
            </a:r>
            <a:endParaRPr lang="en-US" sz="3000" dirty="0"/>
          </a:p>
        </p:txBody>
      </p:sp>
      <p:sp>
        <p:nvSpPr>
          <p:cNvPr id="12" name="Text 10"/>
          <p:cNvSpPr/>
          <p:nvPr/>
        </p:nvSpPr>
        <p:spPr>
          <a:xfrm>
            <a:off x="2362200" y="5301953"/>
            <a:ext cx="16261080" cy="47625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E9E9ED"/>
                </a:solidFill>
                <a:latin typeface="Arial" pitchFamily="34" charset="0"/>
                <a:ea typeface="Arial" pitchFamily="34" charset="-122"/>
                <a:cs typeface="Arial" pitchFamily="34" charset="-120"/>
              </a:rPr>
              <a:t>Retention is staged, and identity is immutable</a:t>
            </a:r>
            <a:endParaRPr lang="en-US" sz="3000" dirty="0"/>
          </a:p>
        </p:txBody>
      </p:sp>
      <p:sp>
        <p:nvSpPr>
          <p:cNvPr id="13" name="Text 11"/>
          <p:cNvSpPr/>
          <p:nvPr/>
        </p:nvSpPr>
        <p:spPr>
          <a:xfrm>
            <a:off x="2362200" y="5892503"/>
            <a:ext cx="12229816"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alpha val="82000"/>
                  </a:srgbClr>
                </a:solidFill>
                <a:latin typeface="Arial" pitchFamily="34" charset="0"/>
                <a:ea typeface="Arial" pitchFamily="34" charset="-122"/>
                <a:cs typeface="Arial" pitchFamily="34" charset="-120"/>
              </a:rPr>
              <a:t>Memory write approval is on, so channel talk does not become durable memory unreviewed. SOUL.md is mounted read-only, which removes self-editing — the highest-value target for prompt injection.</a:t>
            </a:r>
            <a:endParaRPr lang="en-US" sz="1950" dirty="0"/>
          </a:p>
        </p:txBody>
      </p:sp>
      <p:sp>
        <p:nvSpPr>
          <p:cNvPr id="14" name="Text 12"/>
          <p:cNvSpPr/>
          <p:nvPr/>
        </p:nvSpPr>
        <p:spPr>
          <a:xfrm>
            <a:off x="1143000" y="7623771"/>
            <a:ext cx="914400" cy="628650"/>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9184D9"/>
                </a:solidFill>
                <a:latin typeface="Arial" pitchFamily="34" charset="0"/>
                <a:ea typeface="Arial" pitchFamily="34" charset="-122"/>
                <a:cs typeface="Arial" pitchFamily="34" charset="-120"/>
              </a:rPr>
              <a:t>03</a:t>
            </a:r>
            <a:endParaRPr lang="en-US" sz="3000" dirty="0"/>
          </a:p>
        </p:txBody>
      </p:sp>
      <p:sp>
        <p:nvSpPr>
          <p:cNvPr id="15" name="Text 13"/>
          <p:cNvSpPr/>
          <p:nvPr/>
        </p:nvSpPr>
        <p:spPr>
          <a:xfrm>
            <a:off x="2362200" y="7623771"/>
            <a:ext cx="16261080" cy="476250"/>
          </a:xfrm>
          <a:prstGeom prst="rect">
            <a:avLst/>
          </a:prstGeom>
          <a:noFill/>
          <a:ln/>
        </p:spPr>
        <p:txBody>
          <a:bodyPr wrap="square" lIns="25400" tIns="25400" rIns="25400" bIns="25400" rtlCol="0" anchor="t">
            <a:normAutofit/>
          </a:bodyPr>
          <a:lstStyle/>
          <a:p>
            <a:pPr algn="l" indent="0" marL="0">
              <a:lnSpc>
                <a:spcPct val="100000"/>
              </a:lnSpc>
              <a:buNone/>
            </a:pPr>
            <a:r>
              <a:rPr lang="en-US" sz="3000" dirty="0">
                <a:solidFill>
                  <a:srgbClr val="E9E9ED"/>
                </a:solidFill>
                <a:latin typeface="Arial" pitchFamily="34" charset="0"/>
                <a:ea typeface="Arial" pitchFamily="34" charset="-122"/>
                <a:cs typeface="Arial" pitchFamily="34" charset="-120"/>
              </a:rPr>
              <a:t>Secrets are scoped to one persona</a:t>
            </a:r>
            <a:endParaRPr lang="en-US" sz="3000" dirty="0"/>
          </a:p>
        </p:txBody>
      </p:sp>
      <p:sp>
        <p:nvSpPr>
          <p:cNvPr id="16" name="Text 14"/>
          <p:cNvSpPr/>
          <p:nvPr/>
        </p:nvSpPr>
        <p:spPr>
          <a:xfrm>
            <a:off x="2362200" y="8214321"/>
            <a:ext cx="12229816"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alpha val="82000"/>
                  </a:srgbClr>
                </a:solidFill>
                <a:latin typeface="Arial" pitchFamily="34" charset="0"/>
                <a:ea typeface="Arial" pitchFamily="34" charset="-122"/>
                <a:cs typeface="Arial" pitchFamily="34" charset="-120"/>
              </a:rPr>
              <a:t>The image grants the tool; the per-agent env file grants the access. The CRM credential is read-scoped at the token, not by instruction — and a second persona inherits the CLI and none of the credentials.</a:t>
            </a:r>
            <a:endParaRPr lang="en-US" sz="1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1559838"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LEARNINGS</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Deployment Learnings</a:t>
            </a:r>
            <a:endParaRPr lang="en-US" sz="4800" dirty="0"/>
          </a:p>
        </p:txBody>
      </p:sp>
      <p:sp>
        <p:nvSpPr>
          <p:cNvPr id="6" name="Text 4"/>
          <p:cNvSpPr/>
          <p:nvPr/>
        </p:nvSpPr>
        <p:spPr>
          <a:xfrm>
            <a:off x="1143000" y="2656284"/>
            <a:ext cx="11844814" cy="464741"/>
          </a:xfrm>
          <a:prstGeom prst="rect">
            <a:avLst/>
          </a:prstGeom>
          <a:noFill/>
          <a:ln/>
        </p:spPr>
        <p:txBody>
          <a:bodyPr wrap="square" lIns="25400" tIns="25400" rIns="25400" bIns="25400" rtlCol="0" anchor="t">
            <a:normAutofit/>
          </a:bodyPr>
          <a:lstStyle/>
          <a:p>
            <a:pPr algn="l" indent="0" marL="0">
              <a:lnSpc>
                <a:spcPct val="122182"/>
              </a:lnSpc>
              <a:buNone/>
            </a:pPr>
            <a:r>
              <a:rPr lang="en-US" sz="2400" dirty="0">
                <a:solidFill>
                  <a:srgbClr val="E8E8ED">
                    <a:alpha val="80000"/>
                  </a:srgbClr>
                </a:solidFill>
                <a:latin typeface="Arial" pitchFamily="34" charset="0"/>
                <a:ea typeface="Arial" pitchFamily="34" charset="-122"/>
                <a:cs typeface="Arial" pitchFamily="34" charset="-120"/>
              </a:rPr>
              <a:t>Almost every mistake we made started by looking like a success.</a:t>
            </a:r>
            <a:endParaRPr lang="en-US" sz="2400" dirty="0"/>
          </a:p>
        </p:txBody>
      </p:sp>
      <p:sp>
        <p:nvSpPr>
          <p:cNvPr id="7" name="Shape 5"/>
          <p:cNvSpPr/>
          <p:nvPr/>
        </p:nvSpPr>
        <p:spPr>
          <a:xfrm>
            <a:off x="1143000" y="3616325"/>
            <a:ext cx="7581900" cy="9525"/>
          </a:xfrm>
          <a:prstGeom prst="rect">
            <a:avLst/>
          </a:prstGeom>
          <a:solidFill>
            <a:srgbClr val="E6E6EC">
              <a:alpha val="16000"/>
            </a:srgbClr>
          </a:solidFill>
          <a:ln/>
        </p:spPr>
      </p:sp>
      <p:sp>
        <p:nvSpPr>
          <p:cNvPr id="8" name="Text 6"/>
          <p:cNvSpPr/>
          <p:nvPr/>
        </p:nvSpPr>
        <p:spPr>
          <a:xfrm>
            <a:off x="1143000" y="3851275"/>
            <a:ext cx="8340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9184D9"/>
                </a:solidFill>
                <a:latin typeface="Arial" pitchFamily="34" charset="0"/>
                <a:ea typeface="Arial" pitchFamily="34" charset="-122"/>
                <a:cs typeface="Arial" pitchFamily="34" charset="-120"/>
              </a:rPr>
              <a:t>01</a:t>
            </a:r>
            <a:endParaRPr lang="en-US" sz="1950" dirty="0"/>
          </a:p>
        </p:txBody>
      </p:sp>
      <p:sp>
        <p:nvSpPr>
          <p:cNvPr id="9" name="Text 7"/>
          <p:cNvSpPr/>
          <p:nvPr/>
        </p:nvSpPr>
        <p:spPr>
          <a:xfrm>
            <a:off x="1143000" y="4349353"/>
            <a:ext cx="8340090" cy="409873"/>
          </a:xfrm>
          <a:prstGeom prst="rect">
            <a:avLst/>
          </a:prstGeom>
          <a:noFill/>
          <a:ln/>
        </p:spPr>
        <p:txBody>
          <a:bodyPr wrap="square" lIns="25400" tIns="25400" rIns="25400" bIns="25400" rtlCol="0" anchor="t">
            <a:normAutofit/>
          </a:bodyPr>
          <a:lstStyle/>
          <a:p>
            <a:pPr algn="l" indent="0" marL="0">
              <a:lnSpc>
                <a:spcPct val="106473"/>
              </a:lnSpc>
              <a:buNone/>
            </a:pPr>
            <a:r>
              <a:rPr lang="en-US" sz="2400" dirty="0">
                <a:solidFill>
                  <a:srgbClr val="E9E9ED"/>
                </a:solidFill>
                <a:latin typeface="Arial" pitchFamily="34" charset="0"/>
                <a:ea typeface="Arial" pitchFamily="34" charset="-122"/>
                <a:cs typeface="Arial" pitchFamily="34" charset="-120"/>
              </a:rPr>
              <a:t>Commands answer for the wrong profile</a:t>
            </a:r>
            <a:endParaRPr lang="en-US" sz="2400" dirty="0"/>
          </a:p>
        </p:txBody>
      </p:sp>
      <p:sp>
        <p:nvSpPr>
          <p:cNvPr id="10" name="Text 8"/>
          <p:cNvSpPr/>
          <p:nvPr/>
        </p:nvSpPr>
        <p:spPr>
          <a:xfrm>
            <a:off x="1143000" y="4835426"/>
            <a:ext cx="7809357" cy="741363"/>
          </a:xfrm>
          <a:prstGeom prst="rect">
            <a:avLst/>
          </a:prstGeom>
          <a:noFill/>
          <a:ln/>
        </p:spPr>
        <p:txBody>
          <a:bodyPr wrap="square" lIns="25400" tIns="25400" rIns="25400" bIns="25400" rtlCol="0" anchor="t">
            <a:normAutofit/>
          </a:bodyPr>
          <a:lstStyle/>
          <a:p>
            <a:pPr algn="l" indent="0" marL="0">
              <a:lnSpc>
                <a:spcPct val="125864"/>
              </a:lnSpc>
              <a:buNone/>
            </a:pPr>
            <a:r>
              <a:rPr lang="en-US" sz="1950" dirty="0">
                <a:solidFill>
                  <a:srgbClr val="E9E9ED">
                    <a:alpha val="78000"/>
                  </a:srgbClr>
                </a:solidFill>
                <a:latin typeface="Arial" pitchFamily="34" charset="0"/>
                <a:ea typeface="Arial" pitchFamily="34" charset="-122"/>
                <a:cs typeface="Arial" pitchFamily="34" charset="-120"/>
              </a:rPr>
              <a:t>Every bare command targets the default profile, which is not the one the stack runs. Confident answers to a different question.</a:t>
            </a:r>
            <a:endParaRPr lang="en-US" sz="1950" dirty="0"/>
          </a:p>
        </p:txBody>
      </p:sp>
      <p:sp>
        <p:nvSpPr>
          <p:cNvPr id="11" name="Shape 9"/>
          <p:cNvSpPr/>
          <p:nvPr/>
        </p:nvSpPr>
        <p:spPr>
          <a:xfrm>
            <a:off x="9563100" y="3616325"/>
            <a:ext cx="7581900" cy="9525"/>
          </a:xfrm>
          <a:prstGeom prst="rect">
            <a:avLst/>
          </a:prstGeom>
          <a:solidFill>
            <a:srgbClr val="E6E6EC">
              <a:alpha val="16000"/>
            </a:srgbClr>
          </a:solidFill>
          <a:ln/>
        </p:spPr>
      </p:sp>
      <p:sp>
        <p:nvSpPr>
          <p:cNvPr id="12" name="Text 10"/>
          <p:cNvSpPr/>
          <p:nvPr/>
        </p:nvSpPr>
        <p:spPr>
          <a:xfrm>
            <a:off x="9563100" y="3851275"/>
            <a:ext cx="8340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9184D9"/>
                </a:solidFill>
                <a:latin typeface="Arial" pitchFamily="34" charset="0"/>
                <a:ea typeface="Arial" pitchFamily="34" charset="-122"/>
                <a:cs typeface="Arial" pitchFamily="34" charset="-120"/>
              </a:rPr>
              <a:t>02</a:t>
            </a:r>
            <a:endParaRPr lang="en-US" sz="1950" dirty="0"/>
          </a:p>
        </p:txBody>
      </p:sp>
      <p:sp>
        <p:nvSpPr>
          <p:cNvPr id="13" name="Text 11"/>
          <p:cNvSpPr/>
          <p:nvPr/>
        </p:nvSpPr>
        <p:spPr>
          <a:xfrm>
            <a:off x="9563100" y="4349353"/>
            <a:ext cx="8340090" cy="409873"/>
          </a:xfrm>
          <a:prstGeom prst="rect">
            <a:avLst/>
          </a:prstGeom>
          <a:noFill/>
          <a:ln/>
        </p:spPr>
        <p:txBody>
          <a:bodyPr wrap="square" lIns="25400" tIns="25400" rIns="25400" bIns="25400" rtlCol="0" anchor="t">
            <a:normAutofit/>
          </a:bodyPr>
          <a:lstStyle/>
          <a:p>
            <a:pPr algn="l" indent="0" marL="0">
              <a:lnSpc>
                <a:spcPct val="106473"/>
              </a:lnSpc>
              <a:buNone/>
            </a:pPr>
            <a:r>
              <a:rPr lang="en-US" sz="2400" dirty="0">
                <a:solidFill>
                  <a:srgbClr val="E9E9ED"/>
                </a:solidFill>
                <a:latin typeface="Arial" pitchFamily="34" charset="0"/>
                <a:ea typeface="Arial" pitchFamily="34" charset="-122"/>
                <a:cs typeface="Arial" pitchFamily="34" charset="-120"/>
              </a:rPr>
              <a:t>A misspelled setting removes nothing</a:t>
            </a:r>
            <a:endParaRPr lang="en-US" sz="2400" dirty="0"/>
          </a:p>
        </p:txBody>
      </p:sp>
      <p:sp>
        <p:nvSpPr>
          <p:cNvPr id="14" name="Text 12"/>
          <p:cNvSpPr/>
          <p:nvPr/>
        </p:nvSpPr>
        <p:spPr>
          <a:xfrm>
            <a:off x="9563100" y="4835426"/>
            <a:ext cx="7809357" cy="741363"/>
          </a:xfrm>
          <a:prstGeom prst="rect">
            <a:avLst/>
          </a:prstGeom>
          <a:noFill/>
          <a:ln/>
        </p:spPr>
        <p:txBody>
          <a:bodyPr wrap="square" lIns="25400" tIns="25400" rIns="25400" bIns="25400" rtlCol="0" anchor="t">
            <a:normAutofit/>
          </a:bodyPr>
          <a:lstStyle/>
          <a:p>
            <a:pPr algn="l" indent="0" marL="0">
              <a:lnSpc>
                <a:spcPct val="125864"/>
              </a:lnSpc>
              <a:buNone/>
            </a:pPr>
            <a:r>
              <a:rPr lang="en-US" sz="1950" dirty="0">
                <a:solidFill>
                  <a:srgbClr val="E9E9ED">
                    <a:alpha val="78000"/>
                  </a:srgbClr>
                </a:solidFill>
                <a:latin typeface="Arial" pitchFamily="34" charset="0"/>
                <a:ea typeface="Arial" pitchFamily="34" charset="-122"/>
                <a:cs typeface="Arial" pitchFamily="34" charset="-120"/>
              </a:rPr>
              <a:t>One plural in a toolset name cost a guardrail. No error, no warning — the config simply looked right.</a:t>
            </a:r>
            <a:endParaRPr lang="en-US" sz="1950" dirty="0"/>
          </a:p>
        </p:txBody>
      </p:sp>
      <p:sp>
        <p:nvSpPr>
          <p:cNvPr id="15" name="Shape 13"/>
          <p:cNvSpPr/>
          <p:nvPr/>
        </p:nvSpPr>
        <p:spPr>
          <a:xfrm>
            <a:off x="1143000" y="5995889"/>
            <a:ext cx="7581900" cy="9525"/>
          </a:xfrm>
          <a:prstGeom prst="rect">
            <a:avLst/>
          </a:prstGeom>
          <a:solidFill>
            <a:srgbClr val="E6E6EC">
              <a:alpha val="16000"/>
            </a:srgbClr>
          </a:solidFill>
          <a:ln/>
        </p:spPr>
      </p:sp>
      <p:sp>
        <p:nvSpPr>
          <p:cNvPr id="16" name="Text 14"/>
          <p:cNvSpPr/>
          <p:nvPr/>
        </p:nvSpPr>
        <p:spPr>
          <a:xfrm>
            <a:off x="1143000" y="6230838"/>
            <a:ext cx="8340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9184D9"/>
                </a:solidFill>
                <a:latin typeface="Arial" pitchFamily="34" charset="0"/>
                <a:ea typeface="Arial" pitchFamily="34" charset="-122"/>
                <a:cs typeface="Arial" pitchFamily="34" charset="-120"/>
              </a:rPr>
              <a:t>03</a:t>
            </a:r>
            <a:endParaRPr lang="en-US" sz="1950" dirty="0"/>
          </a:p>
        </p:txBody>
      </p:sp>
      <p:sp>
        <p:nvSpPr>
          <p:cNvPr id="17" name="Text 15"/>
          <p:cNvSpPr/>
          <p:nvPr/>
        </p:nvSpPr>
        <p:spPr>
          <a:xfrm>
            <a:off x="1143000" y="6728917"/>
            <a:ext cx="8340090" cy="409873"/>
          </a:xfrm>
          <a:prstGeom prst="rect">
            <a:avLst/>
          </a:prstGeom>
          <a:noFill/>
          <a:ln/>
        </p:spPr>
        <p:txBody>
          <a:bodyPr wrap="square" lIns="25400" tIns="25400" rIns="25400" bIns="25400" rtlCol="0" anchor="t">
            <a:normAutofit/>
          </a:bodyPr>
          <a:lstStyle/>
          <a:p>
            <a:pPr algn="l" indent="0" marL="0">
              <a:lnSpc>
                <a:spcPct val="106473"/>
              </a:lnSpc>
              <a:buNone/>
            </a:pPr>
            <a:r>
              <a:rPr lang="en-US" sz="2400" dirty="0">
                <a:solidFill>
                  <a:srgbClr val="E9E9ED"/>
                </a:solidFill>
                <a:latin typeface="Arial" pitchFamily="34" charset="0"/>
                <a:ea typeface="Arial" pitchFamily="34" charset="-122"/>
                <a:cs typeface="Arial" pitchFamily="34" charset="-120"/>
              </a:rPr>
              <a:t>A key in the file is not a control</a:t>
            </a:r>
            <a:endParaRPr lang="en-US" sz="2400" dirty="0"/>
          </a:p>
        </p:txBody>
      </p:sp>
      <p:sp>
        <p:nvSpPr>
          <p:cNvPr id="18" name="Text 16"/>
          <p:cNvSpPr/>
          <p:nvPr/>
        </p:nvSpPr>
        <p:spPr>
          <a:xfrm>
            <a:off x="1143000" y="7214989"/>
            <a:ext cx="7809357" cy="741363"/>
          </a:xfrm>
          <a:prstGeom prst="rect">
            <a:avLst/>
          </a:prstGeom>
          <a:noFill/>
          <a:ln/>
        </p:spPr>
        <p:txBody>
          <a:bodyPr wrap="square" lIns="25400" tIns="25400" rIns="25400" bIns="25400" rtlCol="0" anchor="t">
            <a:normAutofit/>
          </a:bodyPr>
          <a:lstStyle/>
          <a:p>
            <a:pPr algn="l" indent="0" marL="0">
              <a:lnSpc>
                <a:spcPct val="125864"/>
              </a:lnSpc>
              <a:buNone/>
            </a:pPr>
            <a:r>
              <a:rPr lang="en-US" sz="1950" dirty="0">
                <a:solidFill>
                  <a:srgbClr val="E9E9ED">
                    <a:alpha val="78000"/>
                  </a:srgbClr>
                </a:solidFill>
                <a:latin typeface="Arial" pitchFamily="34" charset="0"/>
                <a:ea typeface="Arial" pitchFamily="34" charset="-122"/>
                <a:cs typeface="Arial" pitchFamily="34" charset="-120"/>
              </a:rPr>
              <a:t>Config accepts and echoes back keys nothing reads. Only observing the effect counts as evidence.</a:t>
            </a:r>
            <a:endParaRPr lang="en-US" sz="1950" dirty="0"/>
          </a:p>
        </p:txBody>
      </p:sp>
      <p:sp>
        <p:nvSpPr>
          <p:cNvPr id="19" name="Shape 17"/>
          <p:cNvSpPr/>
          <p:nvPr/>
        </p:nvSpPr>
        <p:spPr>
          <a:xfrm>
            <a:off x="9563100" y="5995889"/>
            <a:ext cx="7581900" cy="9525"/>
          </a:xfrm>
          <a:prstGeom prst="rect">
            <a:avLst/>
          </a:prstGeom>
          <a:solidFill>
            <a:srgbClr val="E6E6EC">
              <a:alpha val="16000"/>
            </a:srgbClr>
          </a:solidFill>
          <a:ln/>
        </p:spPr>
      </p:sp>
      <p:sp>
        <p:nvSpPr>
          <p:cNvPr id="20" name="Text 18"/>
          <p:cNvSpPr/>
          <p:nvPr/>
        </p:nvSpPr>
        <p:spPr>
          <a:xfrm>
            <a:off x="9563100" y="6230838"/>
            <a:ext cx="8340090" cy="421878"/>
          </a:xfrm>
          <a:prstGeom prst="rect">
            <a:avLst/>
          </a:prstGeom>
          <a:noFill/>
          <a:ln/>
        </p:spPr>
        <p:txBody>
          <a:bodyPr wrap="square" lIns="25400" tIns="25400" rIns="25400" bIns="25400" rtlCol="0" anchor="t">
            <a:normAutofit/>
          </a:bodyPr>
          <a:lstStyle/>
          <a:p>
            <a:pPr algn="l" indent="0" marL="0">
              <a:lnSpc>
                <a:spcPct val="137386"/>
              </a:lnSpc>
              <a:buNone/>
            </a:pPr>
            <a:r>
              <a:rPr lang="en-US" sz="1950" dirty="0">
                <a:solidFill>
                  <a:srgbClr val="9184D9"/>
                </a:solidFill>
                <a:latin typeface="Arial" pitchFamily="34" charset="0"/>
                <a:ea typeface="Arial" pitchFamily="34" charset="-122"/>
                <a:cs typeface="Arial" pitchFamily="34" charset="-120"/>
              </a:rPr>
              <a:t>04</a:t>
            </a:r>
            <a:endParaRPr lang="en-US" sz="1950" dirty="0"/>
          </a:p>
        </p:txBody>
      </p:sp>
      <p:sp>
        <p:nvSpPr>
          <p:cNvPr id="21" name="Text 19"/>
          <p:cNvSpPr/>
          <p:nvPr/>
        </p:nvSpPr>
        <p:spPr>
          <a:xfrm>
            <a:off x="9563100" y="6728917"/>
            <a:ext cx="8340090" cy="409873"/>
          </a:xfrm>
          <a:prstGeom prst="rect">
            <a:avLst/>
          </a:prstGeom>
          <a:noFill/>
          <a:ln/>
        </p:spPr>
        <p:txBody>
          <a:bodyPr wrap="square" lIns="25400" tIns="25400" rIns="25400" bIns="25400" rtlCol="0" anchor="t">
            <a:normAutofit/>
          </a:bodyPr>
          <a:lstStyle/>
          <a:p>
            <a:pPr algn="l" indent="0" marL="0">
              <a:lnSpc>
                <a:spcPct val="106473"/>
              </a:lnSpc>
              <a:buNone/>
            </a:pPr>
            <a:r>
              <a:rPr lang="en-US" sz="2400" dirty="0">
                <a:solidFill>
                  <a:srgbClr val="E9E9ED"/>
                </a:solidFill>
                <a:latin typeface="Arial" pitchFamily="34" charset="0"/>
                <a:ea typeface="Arial" pitchFamily="34" charset="-122"/>
                <a:cs typeface="Arial" pitchFamily="34" charset="-120"/>
              </a:rPr>
              <a:t>Order of operations is load-bearing</a:t>
            </a:r>
            <a:endParaRPr lang="en-US" sz="2400" dirty="0"/>
          </a:p>
        </p:txBody>
      </p:sp>
      <p:sp>
        <p:nvSpPr>
          <p:cNvPr id="22" name="Text 20"/>
          <p:cNvSpPr/>
          <p:nvPr/>
        </p:nvSpPr>
        <p:spPr>
          <a:xfrm>
            <a:off x="9563100" y="7214989"/>
            <a:ext cx="7809357" cy="741363"/>
          </a:xfrm>
          <a:prstGeom prst="rect">
            <a:avLst/>
          </a:prstGeom>
          <a:noFill/>
          <a:ln/>
        </p:spPr>
        <p:txBody>
          <a:bodyPr wrap="square" lIns="25400" tIns="25400" rIns="25400" bIns="25400" rtlCol="0" anchor="t">
            <a:normAutofit/>
          </a:bodyPr>
          <a:lstStyle/>
          <a:p>
            <a:pPr algn="l" indent="0" marL="0">
              <a:lnSpc>
                <a:spcPct val="125864"/>
              </a:lnSpc>
              <a:buNone/>
            </a:pPr>
            <a:r>
              <a:rPr lang="en-US" sz="1950" dirty="0">
                <a:solidFill>
                  <a:srgbClr val="E9E9ED">
                    <a:alpha val="78000"/>
                  </a:srgbClr>
                </a:solidFill>
                <a:latin typeface="Arial" pitchFamily="34" charset="0"/>
                <a:ea typeface="Arial" pitchFamily="34" charset="-122"/>
                <a:cs typeface="Arial" pitchFamily="34" charset="-120"/>
              </a:rPr>
              <a:t>Mount before the profile exists and the directory lands root-owned; edit without a restart and the old file is still being served.</a:t>
            </a:r>
            <a:endParaRPr lang="en-US" sz="1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26"/>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2B2741">
                  <a:alpha val="75000"/>
                </a:srgbClr>
              </a:gs>
              <a:gs pos="58000">
                <a:srgbClr val="2B2741">
                  <a:alpha val="0"/>
                </a:srgbClr>
              </a:gs>
            </a:gsLst>
            <a:path path="circle">
              <a:fillToRect l="80000" t="0" r="20000" b="100000"/>
            </a:path>
          </a:gradFill>
          <a:ln/>
        </p:spPr>
      </p:sp>
      <p:sp>
        <p:nvSpPr>
          <p:cNvPr id="3" name="Shape 1"/>
          <p:cNvSpPr/>
          <p:nvPr/>
        </p:nvSpPr>
        <p:spPr>
          <a:xfrm>
            <a:off x="1143000" y="1162943"/>
            <a:ext cx="419100" cy="9525"/>
          </a:xfrm>
          <a:prstGeom prst="rect">
            <a:avLst/>
          </a:prstGeom>
          <a:solidFill>
            <a:srgbClr val="9184D9"/>
          </a:solidFill>
          <a:ln/>
        </p:spPr>
      </p:sp>
      <p:sp>
        <p:nvSpPr>
          <p:cNvPr id="4" name="Text 2"/>
          <p:cNvSpPr/>
          <p:nvPr/>
        </p:nvSpPr>
        <p:spPr>
          <a:xfrm>
            <a:off x="1752600" y="990600"/>
            <a:ext cx="735211"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108" kern="0" dirty="0">
                <a:solidFill>
                  <a:srgbClr val="9184D9"/>
                </a:solidFill>
                <a:latin typeface="Arial" pitchFamily="34" charset="0"/>
                <a:ea typeface="Arial" pitchFamily="34" charset="-122"/>
                <a:cs typeface="Arial" pitchFamily="34" charset="-120"/>
              </a:rPr>
              <a:t>NEXT</a:t>
            </a:r>
            <a:endParaRPr lang="en-US" sz="1800" dirty="0"/>
          </a:p>
        </p:txBody>
      </p:sp>
      <p:sp>
        <p:nvSpPr>
          <p:cNvPr id="5" name="Text 3"/>
          <p:cNvSpPr/>
          <p:nvPr/>
        </p:nvSpPr>
        <p:spPr>
          <a:xfrm>
            <a:off x="1106488" y="1687810"/>
            <a:ext cx="17642364" cy="720824"/>
          </a:xfrm>
          <a:prstGeom prst="rect">
            <a:avLst/>
          </a:prstGeom>
          <a:noFill/>
          <a:ln/>
        </p:spPr>
        <p:txBody>
          <a:bodyPr wrap="square" lIns="25400" tIns="25400" rIns="25400" bIns="25400" rtlCol="0" anchor="t">
            <a:normAutofit/>
          </a:bodyPr>
          <a:lstStyle/>
          <a:p>
            <a:pPr algn="l" indent="0" marL="0">
              <a:lnSpc>
                <a:spcPct val="97745"/>
              </a:lnSpc>
              <a:buNone/>
            </a:pPr>
            <a:r>
              <a:rPr lang="en-US" sz="4800" spc="-72" kern="0" dirty="0">
                <a:solidFill>
                  <a:srgbClr val="E9E9ED"/>
                </a:solidFill>
                <a:latin typeface="Arial" pitchFamily="34" charset="0"/>
                <a:ea typeface="Arial" pitchFamily="34" charset="-122"/>
                <a:cs typeface="Arial" pitchFamily="34" charset="-120"/>
              </a:rPr>
              <a:t>Future Work and the Framework Question</a:t>
            </a:r>
            <a:endParaRPr lang="en-US" sz="4800" dirty="0"/>
          </a:p>
        </p:txBody>
      </p:sp>
      <p:sp>
        <p:nvSpPr>
          <p:cNvPr id="6" name="Shape 4"/>
          <p:cNvSpPr/>
          <p:nvPr/>
        </p:nvSpPr>
        <p:spPr>
          <a:xfrm>
            <a:off x="1143000" y="3505895"/>
            <a:ext cx="4876800" cy="9525"/>
          </a:xfrm>
          <a:prstGeom prst="rect">
            <a:avLst/>
          </a:prstGeom>
          <a:solidFill>
            <a:srgbClr val="E6E6EC">
              <a:alpha val="16000"/>
            </a:srgbClr>
          </a:solidFill>
          <a:ln/>
        </p:spPr>
      </p:sp>
      <p:sp>
        <p:nvSpPr>
          <p:cNvPr id="7" name="Text 5"/>
          <p:cNvSpPr/>
          <p:nvPr/>
        </p:nvSpPr>
        <p:spPr>
          <a:xfrm>
            <a:off x="1143000" y="2980134"/>
            <a:ext cx="502310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MONITORING</a:t>
            </a:r>
            <a:endParaRPr lang="en-US" sz="1800" dirty="0"/>
          </a:p>
        </p:txBody>
      </p:sp>
      <p:sp>
        <p:nvSpPr>
          <p:cNvPr id="8" name="Text 6"/>
          <p:cNvSpPr/>
          <p:nvPr/>
        </p:nvSpPr>
        <p:spPr>
          <a:xfrm>
            <a:off x="1143000" y="3721795"/>
            <a:ext cx="5023104"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Nightly offsite snapshots of both volumes, with a monthly restore rehearsal.</a:t>
            </a:r>
            <a:endParaRPr lang="en-US" sz="1950" dirty="0"/>
          </a:p>
        </p:txBody>
      </p:sp>
      <p:sp>
        <p:nvSpPr>
          <p:cNvPr id="9" name="Text 7"/>
          <p:cNvSpPr/>
          <p:nvPr/>
        </p:nvSpPr>
        <p:spPr>
          <a:xfrm>
            <a:off x="1143000" y="4970463"/>
            <a:ext cx="5023104"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Resource ceilings on the memory server, set after measuring under extraction load.</a:t>
            </a:r>
            <a:endParaRPr lang="en-US" sz="1950" dirty="0"/>
          </a:p>
        </p:txBody>
      </p:sp>
      <p:sp>
        <p:nvSpPr>
          <p:cNvPr id="10" name="Text 8"/>
          <p:cNvSpPr/>
          <p:nvPr/>
        </p:nvSpPr>
        <p:spPr>
          <a:xfrm>
            <a:off x="1143000" y="6219131"/>
            <a:ext cx="5023104"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Extraction telemetry: turns synced, facts written, spend on the extraction model.</a:t>
            </a:r>
            <a:endParaRPr lang="en-US" sz="1950" dirty="0"/>
          </a:p>
        </p:txBody>
      </p:sp>
      <p:sp>
        <p:nvSpPr>
          <p:cNvPr id="11" name="Shape 9"/>
          <p:cNvSpPr/>
          <p:nvPr/>
        </p:nvSpPr>
        <p:spPr>
          <a:xfrm>
            <a:off x="6705600" y="3505895"/>
            <a:ext cx="4876800" cy="9525"/>
          </a:xfrm>
          <a:prstGeom prst="rect">
            <a:avLst/>
          </a:prstGeom>
          <a:solidFill>
            <a:srgbClr val="E6E6EC">
              <a:alpha val="16000"/>
            </a:srgbClr>
          </a:solidFill>
          <a:ln/>
        </p:spPr>
      </p:sp>
      <p:sp>
        <p:nvSpPr>
          <p:cNvPr id="12" name="Text 10"/>
          <p:cNvSpPr/>
          <p:nvPr/>
        </p:nvSpPr>
        <p:spPr>
          <a:xfrm>
            <a:off x="6705600" y="2980134"/>
            <a:ext cx="502310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GUARDRAILS</a:t>
            </a:r>
            <a:endParaRPr lang="en-US" sz="1800" dirty="0"/>
          </a:p>
        </p:txBody>
      </p:sp>
      <p:sp>
        <p:nvSpPr>
          <p:cNvPr id="13" name="Text 11"/>
          <p:cNvSpPr/>
          <p:nvPr/>
        </p:nvSpPr>
        <p:spPr>
          <a:xfrm>
            <a:off x="6705600" y="3721795"/>
            <a:ext cx="5023104"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Split reading from writing, so recall and retention are not the same identity.</a:t>
            </a:r>
            <a:endParaRPr lang="en-US" sz="1950" dirty="0"/>
          </a:p>
        </p:txBody>
      </p:sp>
      <p:sp>
        <p:nvSpPr>
          <p:cNvPr id="14" name="Text 12"/>
          <p:cNvSpPr/>
          <p:nvPr/>
        </p:nvSpPr>
        <p:spPr>
          <a:xfrm>
            <a:off x="6705600" y="4611390"/>
            <a:ext cx="5023104"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Pin image versions, so the repo can state what it runs and reproduce it.</a:t>
            </a:r>
            <a:endParaRPr lang="en-US" sz="1950" dirty="0"/>
          </a:p>
        </p:txBody>
      </p:sp>
      <p:sp>
        <p:nvSpPr>
          <p:cNvPr id="15" name="Text 13"/>
          <p:cNvSpPr/>
          <p:nvPr/>
        </p:nvSpPr>
        <p:spPr>
          <a:xfrm>
            <a:off x="6705600" y="5500985"/>
            <a:ext cx="5023104"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Turn the boundary tests into standing checks, and give the review queue an owner.</a:t>
            </a:r>
            <a:endParaRPr lang="en-US" sz="1950" dirty="0"/>
          </a:p>
        </p:txBody>
      </p:sp>
      <p:sp>
        <p:nvSpPr>
          <p:cNvPr id="16" name="Shape 14"/>
          <p:cNvSpPr/>
          <p:nvPr/>
        </p:nvSpPr>
        <p:spPr>
          <a:xfrm>
            <a:off x="12268200" y="3505895"/>
            <a:ext cx="4876800" cy="9525"/>
          </a:xfrm>
          <a:prstGeom prst="rect">
            <a:avLst/>
          </a:prstGeom>
          <a:solidFill>
            <a:srgbClr val="E6E6EC">
              <a:alpha val="16000"/>
            </a:srgbClr>
          </a:solidFill>
          <a:ln/>
        </p:spPr>
      </p:sp>
      <p:sp>
        <p:nvSpPr>
          <p:cNvPr id="17" name="Text 15"/>
          <p:cNvSpPr/>
          <p:nvPr/>
        </p:nvSpPr>
        <p:spPr>
          <a:xfrm>
            <a:off x="12268200" y="2980134"/>
            <a:ext cx="5023104" cy="392410"/>
          </a:xfrm>
          <a:prstGeom prst="rect">
            <a:avLst/>
          </a:prstGeom>
          <a:noFill/>
          <a:ln/>
        </p:spPr>
        <p:txBody>
          <a:bodyPr wrap="square" lIns="25400" tIns="25400" rIns="25400" bIns="25400" rtlCol="0" anchor="t">
            <a:normAutofit/>
          </a:bodyPr>
          <a:lstStyle/>
          <a:p>
            <a:pPr algn="l" indent="0" marL="0">
              <a:lnSpc>
                <a:spcPct val="132857"/>
              </a:lnSpc>
              <a:buNone/>
            </a:pPr>
            <a:r>
              <a:rPr lang="en-US" sz="1800" spc="90" kern="0" dirty="0">
                <a:solidFill>
                  <a:srgbClr val="D2CEFD"/>
                </a:solidFill>
                <a:latin typeface="Arial" pitchFamily="34" charset="0"/>
                <a:ea typeface="Arial" pitchFamily="34" charset="-122"/>
                <a:cs typeface="Arial" pitchFamily="34" charset="-120"/>
              </a:rPr>
              <a:t>FRAMEWORK</a:t>
            </a:r>
            <a:endParaRPr lang="en-US" sz="1800" dirty="0"/>
          </a:p>
        </p:txBody>
      </p:sp>
      <p:sp>
        <p:nvSpPr>
          <p:cNvPr id="18" name="Text 16"/>
          <p:cNvSpPr/>
          <p:nvPr/>
        </p:nvSpPr>
        <p:spPr>
          <a:xfrm>
            <a:off x="12268200" y="3721795"/>
            <a:ext cx="5023104" cy="1115318"/>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What Hermes gave us free: profiles, gateway, skills, a memory provider that works.</a:t>
            </a:r>
            <a:endParaRPr lang="en-US" sz="1950" dirty="0"/>
          </a:p>
        </p:txBody>
      </p:sp>
      <p:sp>
        <p:nvSpPr>
          <p:cNvPr id="19" name="Text 17"/>
          <p:cNvSpPr/>
          <p:nvPr/>
        </p:nvSpPr>
        <p:spPr>
          <a:xfrm>
            <a:off x="12268200" y="4970463"/>
            <a:ext cx="5023104" cy="756245"/>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What it cost: schemaless config, silent gates, behaviour that varies per profile.</a:t>
            </a:r>
            <a:endParaRPr lang="en-US" sz="1950" dirty="0"/>
          </a:p>
        </p:txBody>
      </p:sp>
      <p:sp>
        <p:nvSpPr>
          <p:cNvPr id="20" name="Text 18"/>
          <p:cNvSpPr/>
          <p:nvPr/>
        </p:nvSpPr>
        <p:spPr>
          <a:xfrm>
            <a:off x="12268200" y="5860058"/>
            <a:ext cx="5023104" cy="1474391"/>
          </a:xfrm>
          <a:prstGeom prst="rect">
            <a:avLst/>
          </a:prstGeom>
          <a:noFill/>
          <a:ln/>
        </p:spPr>
        <p:txBody>
          <a:bodyPr wrap="square" lIns="25400" tIns="25400" rIns="25400" bIns="25400" rtlCol="0" anchor="t">
            <a:normAutofit/>
          </a:bodyPr>
          <a:lstStyle/>
          <a:p>
            <a:pPr algn="l" indent="0" marL="0">
              <a:lnSpc>
                <a:spcPct val="128523"/>
              </a:lnSpc>
              <a:buNone/>
            </a:pPr>
            <a:r>
              <a:rPr lang="en-US" sz="1950" dirty="0">
                <a:solidFill>
                  <a:srgbClr val="E9E9ED"/>
                </a:solidFill>
                <a:latin typeface="Arial" pitchFamily="34" charset="0"/>
                <a:ea typeface="Arial" pitchFamily="34" charset="-122"/>
                <a:cs typeface="Arial" pitchFamily="34" charset="-120"/>
              </a:rPr>
              <a:t>To assess before phase two: whether an explicit graph — LangGraph — buys enough control over tool exposure and retention to be worth the rebuild.</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2026-08-28T10:44:14Z</dcterms:created>
  <dcterms:modified xsi:type="dcterms:W3CDTF">2026-08-28T10:44:14Z</dcterms:modified>
</cp:coreProperties>
</file>